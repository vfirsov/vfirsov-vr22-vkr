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9a962ba8-f11d-31eb-7e8c-0a6472bfb15d}">
          <p14:sldIdLst>
            <p14:sldId id="256"/>
          </p14:sldIdLst>
        </p14:section>
        <p14:section name="Основная часть" id="{16402d69-331c-3fc7-388a-eecaf7ada00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Дополнительные слайды" id="{8dd387ac-1685-19e4-4377-68016b6ed84e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Сравниваю три способа продавать чай и вести учёт: без системы, на готовой платформе и в собственной системе.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остатки ведутся в таблицах, а заказы приходят из разных каналов. Из-за этого бывает, что продают товар, которого уже нет, а подобрать чай по параметрам покупатель может только через продавца. Система должна закрыть эти пять проблем.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системы на каждый заказ приходится семь ручных операций. Если заказов мало, этого хватает. Проблемы начинаются, когда двое покупателей претендуют на последнюю пачку и когда покупатель хочет подобрать чай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Рассмотрено восемь вариантов шести типов. Больше всех баллов у 1С-Битрикс, ему не хватает только партий. Поэтому дальше сравниваю с ним и с 1С:УТ, где партии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Критерии взяты из требований ВКР. Время покупателя рассчитано по модели KLM, действия администратора посчитаны по описанию процессов. Если спросят про секундомер: это расчёт по модели KLM, правило расчёта приведено в условиях.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Строки отсортированы по числу лучших результатов. Покупателю везде нужна примерно минута. Прототип отстаёт по атрибутам, интеграциям и партиям, это нужно сказать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спросят, почему не Битрикс: у него нет партий, и нужны лицензия и разработчик под Битрикс.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пример с последней пачкой. Без системы её продадут двоим, а в системе остаток резервируется при оформлении. Честно сказать: этот сценарий есть в спецификации, но тестом не проверялся. Тестами подтверждены только устойчивость к обновлению страницы и нагрузка 100 RPS.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числу выполненных пунктов готовые решения впереди. Своя система нужна, когда партии, поиск по атрибутам и резерв должны работать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сумме функций система уступает аналогам. Её стоит делать, если магазин закупает чай партиями.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Показывать, если спросят, откуда баллы. Разобрать пример InSales по пунктам.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vfirsov-vr22-vkr/1f51b8f7-b11a-5c34-a69a-b28d1e65b266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402590"/>
            <a:ext cx="1417320" cy="6299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vfirsov-vr22-vkr/1f51b8f7-b11a-5c34-a69a-b28d1e65b266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402590"/>
            <a:ext cx="1417320" cy="629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474980"/>
            <a:ext cx="603250" cy="60325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5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8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chemeClr val="accent3"/>
                </a:solidFill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1016000" y="1295400"/>
            <a:ext cx="1016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chemeClr val="accent3"/>
                </a:solidFill>
              </a:rPr>
              <a:t>ФЕДЕРАЛЬНОЕ ГОСУДАРСТВЕННОЕ БЮДЖЕТНОЕ ОБРАЗОВАТЕЛЬНОЕ УЧРЕЖДЕНИЕ ВЫСШЕГО ОБРАЗОВАНИЯ</a:t>
            </a:r>
            <a:endParaRPr lang="en-US" sz="850" dirty="0"/>
          </a:p>
        </p:txBody>
      </p:sp>
      <p:sp>
        <p:nvSpPr>
          <p:cNvPr id="3" name="text-2"/>
          <p:cNvSpPr txBox="1"/>
          <p:nvPr/>
        </p:nvSpPr>
        <p:spPr>
          <a:xfrm>
            <a:off x="1016000" y="1600200"/>
            <a:ext cx="1016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Российская академия народного хозяйства и государственной службы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 Президенте Российской Федерации</a:t>
            </a:r>
            <a:endParaRPr lang="en-US" sz="1500" dirty="0"/>
          </a:p>
        </p:txBody>
      </p:sp>
      <p:sp>
        <p:nvSpPr>
          <p:cNvPr id="4" name="text-3"/>
          <p:cNvSpPr txBox="1"/>
          <p:nvPr/>
        </p:nvSpPr>
        <p:spPr>
          <a:xfrm>
            <a:off x="1016000" y="2209800"/>
            <a:ext cx="1016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Факультет информационных технологий и анализа данных · Кафедра системного анализа и информатики</a:t>
            </a:r>
            <a:endParaRPr lang="en-US" sz="950" dirty="0"/>
          </a:p>
        </p:txBody>
      </p:sp>
      <p:sp>
        <p:nvSpPr>
          <p:cNvPr id="5" name="pill"/>
          <p:cNvSpPr/>
          <p:nvPr/>
        </p:nvSpPr>
        <p:spPr>
          <a:xfrm>
            <a:off x="4198620" y="2692400"/>
            <a:ext cx="3794760" cy="420370"/>
          </a:xfrm>
          <a:prstGeom prst="roundRect">
            <a:avLst>
              <a:gd name="adj" fmla="val 50030"/>
            </a:avLst>
          </a:prstGeom>
          <a:solidFill>
            <a:schemeClr val="accent1"/>
          </a:solidFill>
          <a:ln/>
        </p:spPr>
      </p:sp>
      <p:sp>
        <p:nvSpPr>
          <p:cNvPr id="6" name="text-4"/>
          <p:cNvSpPr txBox="1"/>
          <p:nvPr/>
        </p:nvSpPr>
        <p:spPr>
          <a:xfrm>
            <a:off x="4198620" y="2692400"/>
            <a:ext cx="3794760" cy="420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СРАВНЕНИЕ С АНАЛОГАМИ</a:t>
            </a:r>
            <a:endParaRPr lang="en-US" sz="1100" dirty="0"/>
          </a:p>
        </p:txBody>
      </p:sp>
      <p:sp>
        <p:nvSpPr>
          <p:cNvPr id="7" name="text-5"/>
          <p:cNvSpPr txBox="1"/>
          <p:nvPr/>
        </p:nvSpPr>
        <p:spPr>
          <a:xfrm>
            <a:off x="1016000" y="3429000"/>
            <a:ext cx="10160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Сравнение веб-системы</a:t>
            </a:r>
            <a:endParaRPr lang="en-US" sz="2800" dirty="0"/>
          </a:p>
          <a:p>
            <a:pPr algn="ctr" indent="0" marL="0">
              <a:lnSpc>
                <a:spcPts val="39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чайного магазина с аналогами</a:t>
            </a:r>
            <a:endParaRPr lang="en-US" sz="2800" dirty="0"/>
          </a:p>
        </p:txBody>
      </p:sp>
      <p:sp>
        <p:nvSpPr>
          <p:cNvPr id="8" name="text-6"/>
          <p:cNvSpPr txBox="1"/>
          <p:nvPr/>
        </p:nvSpPr>
        <p:spPr>
          <a:xfrm>
            <a:off x="1016000" y="4648200"/>
            <a:ext cx="1016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ВКР «Разработка информационной веб-системы для управления продажами и учёта ассортимента в чайном магазине»</a:t>
            </a:r>
            <a:endParaRPr lang="en-US" sz="1200" dirty="0"/>
          </a:p>
        </p:txBody>
      </p:sp>
      <p:sp>
        <p:nvSpPr>
          <p:cNvPr id="9" name="text-7"/>
          <p:cNvSpPr txBox="1"/>
          <p:nvPr/>
        </p:nvSpPr>
        <p:spPr>
          <a:xfrm>
            <a:off x="1016000" y="5003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Фирсов Виктор Дмитриевич · руководитель к. ф.-м. н., доцент Пономарёва Людмила Алексеевна</a:t>
            </a:r>
            <a:endParaRPr lang="en-US" sz="1100" dirty="0"/>
          </a:p>
        </p:txBody>
      </p:sp>
      <p:sp>
        <p:nvSpPr>
          <p:cNvPr id="10" name="text-8"/>
          <p:cNvSpPr txBox="1"/>
          <p:nvPr/>
        </p:nvSpPr>
        <p:spPr>
          <a:xfrm>
            <a:off x="1016000" y="57150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Направление подготовки 09.03.03 «Прикладная информатика», профиль «Веб-разработка»</a:t>
            </a:r>
            <a:endParaRPr lang="en-US" sz="1050" dirty="0"/>
          </a:p>
        </p:txBody>
      </p:sp>
      <p:sp>
        <p:nvSpPr>
          <p:cNvPr id="11" name="text-9"/>
          <p:cNvSpPr txBox="1"/>
          <p:nvPr/>
        </p:nvSpPr>
        <p:spPr>
          <a:xfrm>
            <a:off x="1016000" y="60071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Москва ·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ЗАДАЧА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Задача и пользователи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Проблемы текущего процесса (ВКР, разд. 1.3.9) и основной сценарий покупателя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1</a:t>
            </a:r>
            <a:endParaRPr lang="en-US" sz="900" dirty="0"/>
          </a:p>
        </p:txBody>
      </p:sp>
      <p:sp>
        <p:nvSpPr>
          <p:cNvPr id="7" name="card-10"/>
          <p:cNvSpPr/>
          <p:nvPr/>
        </p:nvSpPr>
        <p:spPr>
          <a:xfrm>
            <a:off x="594360" y="1778000"/>
            <a:ext cx="5334000" cy="3276600"/>
          </a:xfrm>
          <a:prstGeom prst="roundRect">
            <a:avLst>
              <a:gd name="adj" fmla="val 1674"/>
            </a:avLst>
          </a:prstGeom>
          <a:solidFill>
            <a:schemeClr val="bg2"/>
          </a:solidFill>
          <a:ln/>
        </p:spPr>
      </p:sp>
      <p:sp>
        <p:nvSpPr>
          <p:cNvPr id="8" name="text-11"/>
          <p:cNvSpPr txBox="1"/>
          <p:nvPr/>
        </p:nvSpPr>
        <p:spPr>
          <a:xfrm>
            <a:off x="787400" y="1930400"/>
            <a:ext cx="495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ТЕКУЩИЙ ПРОЦЕСС</a:t>
            </a:r>
            <a:endParaRPr lang="en-US" sz="900" dirty="0"/>
          </a:p>
        </p:txBody>
      </p:sp>
      <p:sp>
        <p:nvSpPr>
          <p:cNvPr id="9" name="badge-12"/>
          <p:cNvSpPr/>
          <p:nvPr/>
        </p:nvSpPr>
        <p:spPr>
          <a:xfrm>
            <a:off x="787400" y="23241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-13"/>
          <p:cNvSpPr txBox="1"/>
          <p:nvPr/>
        </p:nvSpPr>
        <p:spPr>
          <a:xfrm>
            <a:off x="787400" y="23241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-14"/>
          <p:cNvSpPr txBox="1"/>
          <p:nvPr/>
        </p:nvSpPr>
        <p:spPr>
          <a:xfrm>
            <a:off x="1193800" y="2235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Остатки ведутся в таблицах, поэтому можно продать позицию, которой уже нет</a:t>
            </a:r>
            <a:endParaRPr lang="en-US" sz="1150" dirty="0"/>
          </a:p>
        </p:txBody>
      </p:sp>
      <p:sp>
        <p:nvSpPr>
          <p:cNvPr id="12" name="badge-15"/>
          <p:cNvSpPr/>
          <p:nvPr/>
        </p:nvSpPr>
        <p:spPr>
          <a:xfrm>
            <a:off x="787400" y="28575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16"/>
          <p:cNvSpPr txBox="1"/>
          <p:nvPr/>
        </p:nvSpPr>
        <p:spPr>
          <a:xfrm>
            <a:off x="787400" y="28575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-17"/>
          <p:cNvSpPr txBox="1"/>
          <p:nvPr/>
        </p:nvSpPr>
        <p:spPr>
          <a:xfrm>
            <a:off x="1193800" y="2768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Заказы приходят по телефону, в мессенджеры и с маркетплейсов, общего списка нет</a:t>
            </a:r>
            <a:endParaRPr lang="en-US" sz="1150" dirty="0"/>
          </a:p>
        </p:txBody>
      </p:sp>
      <p:sp>
        <p:nvSpPr>
          <p:cNvPr id="15" name="badge-18"/>
          <p:cNvSpPr/>
          <p:nvPr/>
        </p:nvSpPr>
        <p:spPr>
          <a:xfrm>
            <a:off x="787400" y="33909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-19"/>
          <p:cNvSpPr txBox="1"/>
          <p:nvPr/>
        </p:nvSpPr>
        <p:spPr>
          <a:xfrm>
            <a:off x="787400" y="33909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-20"/>
          <p:cNvSpPr txBox="1"/>
          <p:nvPr/>
        </p:nvSpPr>
        <p:spPr>
          <a:xfrm>
            <a:off x="1193800" y="330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Найти чай по сорту, региону, обработке и вкусу нельзя</a:t>
            </a:r>
            <a:endParaRPr lang="en-US" sz="1150" dirty="0"/>
          </a:p>
        </p:txBody>
      </p:sp>
      <p:sp>
        <p:nvSpPr>
          <p:cNvPr id="18" name="badge-21"/>
          <p:cNvSpPr/>
          <p:nvPr/>
        </p:nvSpPr>
        <p:spPr>
          <a:xfrm>
            <a:off x="787400" y="39243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-22"/>
          <p:cNvSpPr txBox="1"/>
          <p:nvPr/>
        </p:nvSpPr>
        <p:spPr>
          <a:xfrm>
            <a:off x="787400" y="39243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-23"/>
          <p:cNvSpPr txBox="1"/>
          <p:nvPr/>
        </p:nvSpPr>
        <p:spPr>
          <a:xfrm>
            <a:off x="1193800" y="3835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Партию не проследить до года урожая, региона и поставщика</a:t>
            </a:r>
            <a:endParaRPr lang="en-US" sz="1150" dirty="0"/>
          </a:p>
        </p:txBody>
      </p:sp>
      <p:sp>
        <p:nvSpPr>
          <p:cNvPr id="21" name="badge-24"/>
          <p:cNvSpPr/>
          <p:nvPr/>
        </p:nvSpPr>
        <p:spPr>
          <a:xfrm>
            <a:off x="787400" y="44577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-25"/>
          <p:cNvSpPr txBox="1"/>
          <p:nvPr/>
        </p:nvSpPr>
        <p:spPr>
          <a:xfrm>
            <a:off x="787400" y="44577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-26"/>
          <p:cNvSpPr txBox="1"/>
          <p:nvPr/>
        </p:nvSpPr>
        <p:spPr>
          <a:xfrm>
            <a:off x="1193800" y="436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 статусе заказа покупатель узнаёт по телефону</a:t>
            </a:r>
            <a:endParaRPr lang="en-US" sz="1150" dirty="0"/>
          </a:p>
        </p:txBody>
      </p:sp>
      <p:sp>
        <p:nvSpPr>
          <p:cNvPr id="24" name="card-27"/>
          <p:cNvSpPr/>
          <p:nvPr/>
        </p:nvSpPr>
        <p:spPr>
          <a:xfrm>
            <a:off x="6231890" y="1778000"/>
            <a:ext cx="5335270" cy="3276600"/>
          </a:xfrm>
          <a:prstGeom prst="roundRect">
            <a:avLst>
              <a:gd name="adj" fmla="val 1674"/>
            </a:avLst>
          </a:prstGeom>
          <a:solidFill>
            <a:schemeClr val="bg2"/>
          </a:solidFill>
          <a:ln/>
        </p:spPr>
      </p:sp>
      <p:sp>
        <p:nvSpPr>
          <p:cNvPr id="25" name="text-28"/>
          <p:cNvSpPr txBox="1"/>
          <p:nvPr/>
        </p:nvSpPr>
        <p:spPr>
          <a:xfrm>
            <a:off x="6426200" y="1930400"/>
            <a:ext cx="495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СЦЕНАРИЙ ПОКУПАТЕЛЯ</a:t>
            </a:r>
            <a:endParaRPr lang="en-US" sz="900" dirty="0"/>
          </a:p>
        </p:txBody>
      </p:sp>
      <p:sp>
        <p:nvSpPr>
          <p:cNvPr id="26" name="step-29"/>
          <p:cNvSpPr/>
          <p:nvPr/>
        </p:nvSpPr>
        <p:spPr>
          <a:xfrm>
            <a:off x="6426200" y="22098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27" name="text-30"/>
          <p:cNvSpPr txBox="1"/>
          <p:nvPr/>
        </p:nvSpPr>
        <p:spPr>
          <a:xfrm>
            <a:off x="6553200" y="22098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</a:t>
            </a:r>
            <a:endParaRPr lang="en-US" sz="1100" dirty="0"/>
          </a:p>
        </p:txBody>
      </p:sp>
      <p:sp>
        <p:nvSpPr>
          <p:cNvPr id="28" name="text-31"/>
          <p:cNvSpPr txBox="1"/>
          <p:nvPr/>
        </p:nvSpPr>
        <p:spPr>
          <a:xfrm>
            <a:off x="6832600" y="22098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Каталог</a:t>
            </a:r>
            <a:endParaRPr lang="en-US" sz="1100" dirty="0"/>
          </a:p>
        </p:txBody>
      </p:sp>
      <p:sp>
        <p:nvSpPr>
          <p:cNvPr id="29" name="step-32"/>
          <p:cNvSpPr/>
          <p:nvPr/>
        </p:nvSpPr>
        <p:spPr>
          <a:xfrm>
            <a:off x="6426200" y="26543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0" name="text-33"/>
          <p:cNvSpPr txBox="1"/>
          <p:nvPr/>
        </p:nvSpPr>
        <p:spPr>
          <a:xfrm>
            <a:off x="6553200" y="26543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2</a:t>
            </a:r>
            <a:endParaRPr lang="en-US" sz="1100" dirty="0"/>
          </a:p>
        </p:txBody>
      </p:sp>
      <p:sp>
        <p:nvSpPr>
          <p:cNvPr id="31" name="text-34"/>
          <p:cNvSpPr txBox="1"/>
          <p:nvPr/>
        </p:nvSpPr>
        <p:spPr>
          <a:xfrm>
            <a:off x="6832600" y="26543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Фильтр по виду, региону, обработке и вкусу</a:t>
            </a:r>
            <a:endParaRPr lang="en-US" sz="1100" dirty="0"/>
          </a:p>
        </p:txBody>
      </p:sp>
      <p:sp>
        <p:nvSpPr>
          <p:cNvPr id="32" name="step-35"/>
          <p:cNvSpPr/>
          <p:nvPr/>
        </p:nvSpPr>
        <p:spPr>
          <a:xfrm>
            <a:off x="6426200" y="30988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3" name="text-36"/>
          <p:cNvSpPr txBox="1"/>
          <p:nvPr/>
        </p:nvSpPr>
        <p:spPr>
          <a:xfrm>
            <a:off x="6553200" y="30988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3</a:t>
            </a:r>
            <a:endParaRPr lang="en-US" sz="1100" dirty="0"/>
          </a:p>
        </p:txBody>
      </p:sp>
      <p:sp>
        <p:nvSpPr>
          <p:cNvPr id="34" name="text-37"/>
          <p:cNvSpPr txBox="1"/>
          <p:nvPr/>
        </p:nvSpPr>
        <p:spPr>
          <a:xfrm>
            <a:off x="6832600" y="30988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Корзина</a:t>
            </a:r>
            <a:endParaRPr lang="en-US" sz="1100" dirty="0"/>
          </a:p>
        </p:txBody>
      </p:sp>
      <p:sp>
        <p:nvSpPr>
          <p:cNvPr id="35" name="step-38"/>
          <p:cNvSpPr/>
          <p:nvPr/>
        </p:nvSpPr>
        <p:spPr>
          <a:xfrm>
            <a:off x="6426200" y="35433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6" name="text-39"/>
          <p:cNvSpPr txBox="1"/>
          <p:nvPr/>
        </p:nvSpPr>
        <p:spPr>
          <a:xfrm>
            <a:off x="6553200" y="35433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4</a:t>
            </a:r>
            <a:endParaRPr lang="en-US" sz="1100" dirty="0"/>
          </a:p>
        </p:txBody>
      </p:sp>
      <p:sp>
        <p:nvSpPr>
          <p:cNvPr id="37" name="text-40"/>
          <p:cNvSpPr txBox="1"/>
          <p:nvPr/>
        </p:nvSpPr>
        <p:spPr>
          <a:xfrm>
            <a:off x="6832600" y="35433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Оформление заказа и резерв остатка</a:t>
            </a:r>
            <a:endParaRPr lang="en-US" sz="1100" dirty="0"/>
          </a:p>
        </p:txBody>
      </p:sp>
      <p:sp>
        <p:nvSpPr>
          <p:cNvPr id="38" name="step-41"/>
          <p:cNvSpPr/>
          <p:nvPr/>
        </p:nvSpPr>
        <p:spPr>
          <a:xfrm>
            <a:off x="6426200" y="39878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9" name="text-42"/>
          <p:cNvSpPr txBox="1"/>
          <p:nvPr/>
        </p:nvSpPr>
        <p:spPr>
          <a:xfrm>
            <a:off x="6553200" y="39878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5</a:t>
            </a:r>
            <a:endParaRPr lang="en-US" sz="1100" dirty="0"/>
          </a:p>
        </p:txBody>
      </p:sp>
      <p:sp>
        <p:nvSpPr>
          <p:cNvPr id="40" name="text-43"/>
          <p:cNvSpPr txBox="1"/>
          <p:nvPr/>
        </p:nvSpPr>
        <p:spPr>
          <a:xfrm>
            <a:off x="6832600" y="39878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Статус заказа в личном кабинете</a:t>
            </a:r>
            <a:endParaRPr lang="en-US" sz="1100" dirty="0"/>
          </a:p>
        </p:txBody>
      </p:sp>
      <p:sp>
        <p:nvSpPr>
          <p:cNvPr id="41" name="text-44"/>
          <p:cNvSpPr txBox="1"/>
          <p:nvPr/>
        </p:nvSpPr>
        <p:spPr>
          <a:xfrm>
            <a:off x="6426200" y="4521200"/>
            <a:ext cx="494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Сотрудники ведут товары и остатки и меняют статусы заказов</a:t>
            </a:r>
            <a:endParaRPr lang="en-US" sz="1050" dirty="0"/>
          </a:p>
        </p:txBody>
      </p:sp>
      <p:sp>
        <p:nvSpPr>
          <p:cNvPr id="42" name="card-45"/>
          <p:cNvSpPr/>
          <p:nvPr/>
        </p:nvSpPr>
        <p:spPr>
          <a:xfrm>
            <a:off x="594360" y="5232400"/>
            <a:ext cx="10972800" cy="1016000"/>
          </a:xfrm>
          <a:prstGeom prst="roundRect">
            <a:avLst>
              <a:gd name="adj" fmla="val 5400"/>
            </a:avLst>
          </a:prstGeom>
          <a:solidFill>
            <a:schemeClr val="accent1"/>
          </a:solidFill>
          <a:ln/>
        </p:spPr>
      </p:sp>
      <p:sp>
        <p:nvSpPr>
          <p:cNvPr id="43" name="text-46"/>
          <p:cNvSpPr txBox="1"/>
          <p:nvPr/>
        </p:nvSpPr>
        <p:spPr>
          <a:xfrm>
            <a:off x="787400" y="53721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CBD8"/>
                </a:solidFill>
              </a:rPr>
              <a:t>РАЗРАБАТЫВАЕМАЯ СИСТЕМА</a:t>
            </a:r>
            <a:endParaRPr lang="en-US" sz="900" dirty="0"/>
          </a:p>
        </p:txBody>
      </p:sp>
      <p:sp>
        <p:nvSpPr>
          <p:cNvPr id="44" name="text-47"/>
          <p:cNvSpPr txBox="1"/>
          <p:nvPr/>
        </p:nvSpPr>
        <p:spPr>
          <a:xfrm>
            <a:off x="787400" y="5588000"/>
            <a:ext cx="10591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Витрина и учёт используют одну базу данных. Покупатель подбирает чай по виду, региону, обработке и вкусу. При оформлении заказа остаток резервируется, статус заказа виден в личном кабинете. Для каждой партии хранятся год урожая, регион и поставщик.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БАЗОВЫЙ ВАРИАНТ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Работа без системы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Заказы принимаются в сообщениях, остатки ведутся в Excel. С этим вариантом сравниваются все остальные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2</a:t>
            </a:r>
            <a:endParaRPr lang="en-US" sz="900" dirty="0"/>
          </a:p>
        </p:txBody>
      </p:sp>
      <p:sp>
        <p:nvSpPr>
          <p:cNvPr id="7" name="card-48"/>
          <p:cNvSpPr/>
          <p:nvPr/>
        </p:nvSpPr>
        <p:spPr>
          <a:xfrm>
            <a:off x="594360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8" name="badge-49"/>
          <p:cNvSpPr/>
          <p:nvPr/>
        </p:nvSpPr>
        <p:spPr>
          <a:xfrm>
            <a:off x="746760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-50"/>
          <p:cNvSpPr txBox="1"/>
          <p:nvPr/>
        </p:nvSpPr>
        <p:spPr>
          <a:xfrm>
            <a:off x="746760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text-51"/>
          <p:cNvSpPr txBox="1"/>
          <p:nvPr/>
        </p:nvSpPr>
        <p:spPr>
          <a:xfrm>
            <a:off x="746760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Ответить покупателю и уточнить, какой чай нужен</a:t>
            </a:r>
            <a:endParaRPr lang="en-US" sz="1150" dirty="0"/>
          </a:p>
        </p:txBody>
      </p:sp>
      <p:sp>
        <p:nvSpPr>
          <p:cNvPr id="11" name="card-52"/>
          <p:cNvSpPr/>
          <p:nvPr/>
        </p:nvSpPr>
        <p:spPr>
          <a:xfrm>
            <a:off x="2186093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12" name="badge-53"/>
          <p:cNvSpPr/>
          <p:nvPr/>
        </p:nvSpPr>
        <p:spPr>
          <a:xfrm>
            <a:off x="2338493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54"/>
          <p:cNvSpPr txBox="1"/>
          <p:nvPr/>
        </p:nvSpPr>
        <p:spPr>
          <a:xfrm>
            <a:off x="2338493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-55"/>
          <p:cNvSpPr txBox="1"/>
          <p:nvPr/>
        </p:nvSpPr>
        <p:spPr>
          <a:xfrm>
            <a:off x="2338493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Проверить остаток в Excel</a:t>
            </a:r>
            <a:endParaRPr lang="en-US" sz="1150" dirty="0"/>
          </a:p>
        </p:txBody>
      </p:sp>
      <p:sp>
        <p:nvSpPr>
          <p:cNvPr id="15" name="card-56"/>
          <p:cNvSpPr/>
          <p:nvPr/>
        </p:nvSpPr>
        <p:spPr>
          <a:xfrm>
            <a:off x="3777827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16" name="badge-57"/>
          <p:cNvSpPr/>
          <p:nvPr/>
        </p:nvSpPr>
        <p:spPr>
          <a:xfrm>
            <a:off x="3930227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58"/>
          <p:cNvSpPr txBox="1"/>
          <p:nvPr/>
        </p:nvSpPr>
        <p:spPr>
          <a:xfrm>
            <a:off x="3930227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-59"/>
          <p:cNvSpPr txBox="1"/>
          <p:nvPr/>
        </p:nvSpPr>
        <p:spPr>
          <a:xfrm>
            <a:off x="3930227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Отправить реквизиты или ссылку на оплату</a:t>
            </a:r>
            <a:endParaRPr lang="en-US" sz="1150" dirty="0"/>
          </a:p>
        </p:txBody>
      </p:sp>
      <p:sp>
        <p:nvSpPr>
          <p:cNvPr id="19" name="card-60"/>
          <p:cNvSpPr/>
          <p:nvPr/>
        </p:nvSpPr>
        <p:spPr>
          <a:xfrm>
            <a:off x="5369560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20" name="badge-61"/>
          <p:cNvSpPr/>
          <p:nvPr/>
        </p:nvSpPr>
        <p:spPr>
          <a:xfrm>
            <a:off x="5521960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-62"/>
          <p:cNvSpPr txBox="1"/>
          <p:nvPr/>
        </p:nvSpPr>
        <p:spPr>
          <a:xfrm>
            <a:off x="5521960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2" name="text-63"/>
          <p:cNvSpPr txBox="1"/>
          <p:nvPr/>
        </p:nvSpPr>
        <p:spPr>
          <a:xfrm>
            <a:off x="5521960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Проверить поступление оплаты</a:t>
            </a:r>
            <a:endParaRPr lang="en-US" sz="1150" dirty="0"/>
          </a:p>
        </p:txBody>
      </p:sp>
      <p:sp>
        <p:nvSpPr>
          <p:cNvPr id="23" name="card-64"/>
          <p:cNvSpPr/>
          <p:nvPr/>
        </p:nvSpPr>
        <p:spPr>
          <a:xfrm>
            <a:off x="6961293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24" name="badge-65"/>
          <p:cNvSpPr/>
          <p:nvPr/>
        </p:nvSpPr>
        <p:spPr>
          <a:xfrm>
            <a:off x="7113693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-66"/>
          <p:cNvSpPr txBox="1"/>
          <p:nvPr/>
        </p:nvSpPr>
        <p:spPr>
          <a:xfrm>
            <a:off x="7113693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6" name="text-67"/>
          <p:cNvSpPr txBox="1"/>
          <p:nvPr/>
        </p:nvSpPr>
        <p:spPr>
          <a:xfrm>
            <a:off x="7113693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Списать остаток в Excel</a:t>
            </a:r>
            <a:endParaRPr lang="en-US" sz="1150" dirty="0"/>
          </a:p>
        </p:txBody>
      </p:sp>
      <p:sp>
        <p:nvSpPr>
          <p:cNvPr id="27" name="card-68"/>
          <p:cNvSpPr/>
          <p:nvPr/>
        </p:nvSpPr>
        <p:spPr>
          <a:xfrm>
            <a:off x="8553027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28" name="badge-69"/>
          <p:cNvSpPr/>
          <p:nvPr/>
        </p:nvSpPr>
        <p:spPr>
          <a:xfrm>
            <a:off x="8705427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-70"/>
          <p:cNvSpPr txBox="1"/>
          <p:nvPr/>
        </p:nvSpPr>
        <p:spPr>
          <a:xfrm>
            <a:off x="8705427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6</a:t>
            </a:r>
            <a:endParaRPr lang="en-US" sz="1000" dirty="0"/>
          </a:p>
        </p:txBody>
      </p:sp>
      <p:sp>
        <p:nvSpPr>
          <p:cNvPr id="30" name="text-71"/>
          <p:cNvSpPr txBox="1"/>
          <p:nvPr/>
        </p:nvSpPr>
        <p:spPr>
          <a:xfrm>
            <a:off x="8705427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Оформить отправку</a:t>
            </a:r>
            <a:endParaRPr lang="en-US" sz="1150" dirty="0"/>
          </a:p>
        </p:txBody>
      </p:sp>
      <p:sp>
        <p:nvSpPr>
          <p:cNvPr id="31" name="card-72"/>
          <p:cNvSpPr/>
          <p:nvPr/>
        </p:nvSpPr>
        <p:spPr>
          <a:xfrm>
            <a:off x="10144760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32" name="badge-73"/>
          <p:cNvSpPr/>
          <p:nvPr/>
        </p:nvSpPr>
        <p:spPr>
          <a:xfrm>
            <a:off x="10297160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-74"/>
          <p:cNvSpPr txBox="1"/>
          <p:nvPr/>
        </p:nvSpPr>
        <p:spPr>
          <a:xfrm>
            <a:off x="10297160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text-75"/>
          <p:cNvSpPr txBox="1"/>
          <p:nvPr/>
        </p:nvSpPr>
        <p:spPr>
          <a:xfrm>
            <a:off x="10297160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Сообщить покупателю статус и трек-номер</a:t>
            </a:r>
            <a:endParaRPr lang="en-US" sz="1150" dirty="0"/>
          </a:p>
        </p:txBody>
      </p:sp>
      <p:sp>
        <p:nvSpPr>
          <p:cNvPr id="35" name="card-76"/>
          <p:cNvSpPr/>
          <p:nvPr/>
        </p:nvSpPr>
        <p:spPr>
          <a:xfrm>
            <a:off x="594360" y="3733800"/>
            <a:ext cx="317500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36" name="text-77"/>
          <p:cNvSpPr txBox="1"/>
          <p:nvPr/>
        </p:nvSpPr>
        <p:spPr>
          <a:xfrm>
            <a:off x="812800" y="3911600"/>
            <a:ext cx="1524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7</a:t>
            </a:r>
            <a:endParaRPr lang="en-US" sz="5400" dirty="0"/>
          </a:p>
        </p:txBody>
      </p:sp>
      <p:sp>
        <p:nvSpPr>
          <p:cNvPr id="37" name="text-78"/>
          <p:cNvSpPr txBox="1"/>
          <p:nvPr/>
        </p:nvSpPr>
        <p:spPr>
          <a:xfrm>
            <a:off x="812800" y="47752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ручных операций на один заказ</a:t>
            </a:r>
            <a:endParaRPr lang="en-US" sz="1300" dirty="0"/>
          </a:p>
        </p:txBody>
      </p:sp>
      <p:sp>
        <p:nvSpPr>
          <p:cNvPr id="38" name="text-79"/>
          <p:cNvSpPr txBox="1"/>
          <p:nvPr/>
        </p:nvSpPr>
        <p:spPr>
          <a:xfrm>
            <a:off x="812800" y="53340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подсчитано по текущему процессу, нужно подтвердить прогоном</a:t>
            </a:r>
            <a:endParaRPr lang="en-US" sz="1000" dirty="0"/>
          </a:p>
        </p:txBody>
      </p:sp>
      <p:sp>
        <p:nvSpPr>
          <p:cNvPr id="39" name="card-80"/>
          <p:cNvSpPr/>
          <p:nvPr/>
        </p:nvSpPr>
        <p:spPr>
          <a:xfrm>
            <a:off x="3938270" y="3733800"/>
            <a:ext cx="372999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0" name="text-81"/>
          <p:cNvSpPr txBox="1"/>
          <p:nvPr/>
        </p:nvSpPr>
        <p:spPr>
          <a:xfrm>
            <a:off x="4165600" y="3937000"/>
            <a:ext cx="327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Когда этого достаточно</a:t>
            </a:r>
            <a:endParaRPr lang="en-US" sz="1300" dirty="0"/>
          </a:p>
        </p:txBody>
      </p:sp>
      <p:sp>
        <p:nvSpPr>
          <p:cNvPr id="41" name="text-82"/>
          <p:cNvSpPr txBox="1"/>
          <p:nvPr/>
        </p:nvSpPr>
        <p:spPr>
          <a:xfrm>
            <a:off x="4165600" y="42926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Заказов немного и ассортимент небольшой. Запуск ничего не стоит и не требует времени.</a:t>
            </a:r>
            <a:endParaRPr lang="en-US" sz="1250" dirty="0"/>
          </a:p>
        </p:txBody>
      </p:sp>
      <p:sp>
        <p:nvSpPr>
          <p:cNvPr id="42" name="card-83"/>
          <p:cNvSpPr/>
          <p:nvPr/>
        </p:nvSpPr>
        <p:spPr>
          <a:xfrm>
            <a:off x="7837170" y="3733800"/>
            <a:ext cx="372999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3" name="text-84"/>
          <p:cNvSpPr txBox="1"/>
          <p:nvPr/>
        </p:nvSpPr>
        <p:spPr>
          <a:xfrm>
            <a:off x="8064500" y="3937000"/>
            <a:ext cx="327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Где возникают ошибки</a:t>
            </a:r>
            <a:endParaRPr lang="en-US" sz="1300" dirty="0"/>
          </a:p>
        </p:txBody>
      </p:sp>
      <p:sp>
        <p:nvSpPr>
          <p:cNvPr id="44" name="text-85"/>
          <p:cNvSpPr txBox="1"/>
          <p:nvPr/>
        </p:nvSpPr>
        <p:spPr>
          <a:xfrm>
            <a:off x="8064500" y="42926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Если двое покупателей берут последнюю пачку, обоим ответят, что товар есть. Подобрать чай по атрибутам можно только с помощью продавца. История заказа остаётся в переписке.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АНАЛИЗ АНАЛОГОВ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Аналоги и выполненные пункты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Аналоги проверены по 20 пунктам, по четыре в каждом из пяти критериев. Выполненный пункт даёт 1, частично выполненный 0,5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3</a:t>
            </a:r>
            <a:endParaRPr lang="en-US" sz="900" dirty="0"/>
          </a:p>
        </p:txBody>
      </p:sp>
      <p:graphicFrame>
        <p:nvGraphicFramePr>
          <p:cNvPr id="5" name="table-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2667000"/>
                <a:gridCol w="2286000"/>
                <a:gridCol w="1016000"/>
                <a:gridCol w="5003800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Аналог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Тип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Пунктов из 20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мешает использовать в чайном магазине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1С-Битрикс: Управление сайтом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Учётная система с витриной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18,5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партий, нужна лицензия (47 000 ₽) и разработчик под Битрикс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SaaS-конструктор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15–17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партий, свою логику можно добавить только внешним приложением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Учётная система с витриной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15–16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витрина покупается отдельно, резерв появляется только после обмена по расписанию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WooCommerce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Open-source CMS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оплата, доставка и чеки только через плагины, нет партий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RetailCRM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CRM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13,5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своей витрины и каталога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Shopify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SaaS-конструктор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9,5–10,5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 формирует чеки по 54-ФЗ, не хранит ПДн в РФ, не принимает «Мир» и СБП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Ручной процесс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остатки списываются вручную, резерва нет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Adagio Teas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Магазин-конкурент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закрытый магазин, как платформа не продаётся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-87"/>
          <p:cNvSpPr txBox="1"/>
          <p:nvPr/>
        </p:nvSpPr>
        <p:spPr>
          <a:xfrm>
            <a:off x="594360" y="56134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Серым выделены аналоги для сравнения на слайде 5. 1С-Битрикс выполняет больше всех пунктов, 1С:УТ единственный ведёт учёт по партиям. Пункты по каждому критерию приведены на слайде Д1.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МЕТОДИКА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Критерии и порядок сравнения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Каждый критерий связан с требованием из ВКР. Все варианты оцениваются на одном и том же сценарии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4</a:t>
            </a:r>
            <a:endParaRPr lang="en-US" sz="900" dirty="0"/>
          </a:p>
        </p:txBody>
      </p:sp>
      <p:graphicFrame>
        <p:nvGraphicFramePr>
          <p:cNvPr id="6" name="table-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6858000" cy="914400"/>
        </p:xfrm>
        <a:graphic>
          <a:graphicData uri="http://schemas.openxmlformats.org/drawingml/2006/table">
            <a:tbl>
              <a:tblPr/>
              <a:tblGrid>
                <a:gridCol w="2667000"/>
                <a:gridCol w="1193800"/>
                <a:gridCol w="2997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Требование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Как оценивается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Атрибуты чая в фильтре (вид, регион, обработка, вкус)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сколько из четырёх есть в фильтре без доработки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Действия и время покупателя до заказа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число кликов и полей ввода, время по модели KLM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Ручные операции администратора на заказ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F-09, F-10, F-11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число действий от поступления заказа до передачи в доставку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Резерв и партия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F-09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«да», если есть оба, «частично», если одно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Требования РФ (54-ФЗ, «Мир» и СБП, хранение ПДн в РФ)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F-08, N-08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«да», если выполнены все три, «частично», если не все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card-89"/>
          <p:cNvSpPr/>
          <p:nvPr/>
        </p:nvSpPr>
        <p:spPr>
          <a:xfrm>
            <a:off x="7620000" y="1778000"/>
            <a:ext cx="3947160" cy="3667760"/>
          </a:xfrm>
          <a:prstGeom prst="roundRect">
            <a:avLst>
              <a:gd name="adj" fmla="val 1496"/>
            </a:avLst>
          </a:prstGeom>
          <a:solidFill>
            <a:schemeClr val="bg2"/>
          </a:solidFill>
          <a:ln/>
        </p:spPr>
      </p:sp>
      <p:sp>
        <p:nvSpPr>
          <p:cNvPr id="9" name="text-90"/>
          <p:cNvSpPr txBox="1"/>
          <p:nvPr/>
        </p:nvSpPr>
        <p:spPr>
          <a:xfrm>
            <a:off x="7810500" y="19304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УСЛОВИЯ</a:t>
            </a:r>
            <a:endParaRPr lang="en-US" sz="900" dirty="0"/>
          </a:p>
        </p:txBody>
      </p:sp>
      <p:sp>
        <p:nvSpPr>
          <p:cNvPr id="10" name="text-91"/>
          <p:cNvSpPr txBox="1"/>
          <p:nvPr/>
        </p:nvSpPr>
        <p:spPr>
          <a:xfrm>
            <a:off x="7810500" y="2209800"/>
            <a:ext cx="3568700" cy="314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Покупатель ищет улун из Тайваня с цветочным вкусом, 100 г, и оформляет доставку. Администратор передаёт заказ в доставку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Данные покупателя везде одинаковые: имя, email, телефон, адрес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Шаги прототипа взяты из сценария UC-01, шаги 1С-Битрикс из стандартного шаблона оформления заказа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Клик с выбором 2,65 с, поле ввода 3,45 с плюс 0,28 с на символ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Дизайн и стек не сравниваются</a:t>
            </a:r>
            <a:endParaRPr lang="en-US" sz="1100" dirty="0"/>
          </a:p>
        </p:txBody>
      </p:sp>
      <p:sp>
        <p:nvSpPr>
          <p:cNvPr id="11" name="text-92"/>
          <p:cNvSpPr txBox="1"/>
          <p:nvPr/>
        </p:nvSpPr>
        <p:spPr>
          <a:xfrm>
            <a:off x="594360" y="56388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Замеров с секундомером не было. Модель KLM (Card, Moran, Newell, 1980) позволяет оценить время работы с интерфейсом без участия пользователей.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СРАВНЕНИЕ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Сравнение на одном сценарии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Покупатель находит чай по атрибутам и оформляет заказ, магазин не продаёт отсутствующий товар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5</a:t>
            </a:r>
            <a:endParaRPr lang="en-US" sz="900" dirty="0"/>
          </a:p>
        </p:txBody>
      </p:sp>
      <p:graphicFrame>
        <p:nvGraphicFramePr>
          <p:cNvPr id="7" name="table-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1778000"/>
                <a:gridCol w="1397000"/>
                <a:gridCol w="1651000"/>
                <a:gridCol w="1651000"/>
                <a:gridCol w="1651000"/>
                <a:gridCol w="1651000"/>
                <a:gridCol w="1193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Вариант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Атрибуты в фильтре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Покупатель*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Ручных операций администратора**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Резерв и партия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Требования РФ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Лучших из 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 из 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 действий, 1,0 мин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(нет партий)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Своя система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 из 4 (вид и регион)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15 действий, 0,9 мин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 (по проекту 2)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(нет партий)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(интеграции не завершены)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зависит от витрины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 действий, 1,0 мин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(резерв после обмена)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(«Мир» и СБП через витрину)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 из 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 действий и ожидание ответа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legend-94"/>
          <p:cNvSpPr/>
          <p:nvPr/>
        </p:nvSpPr>
        <p:spPr>
          <a:xfrm>
            <a:off x="594360" y="4445000"/>
            <a:ext cx="139700" cy="1397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-95"/>
          <p:cNvSpPr txBox="1"/>
          <p:nvPr/>
        </p:nvSpPr>
        <p:spPr>
          <a:xfrm>
            <a:off x="797560" y="44196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лучший результат</a:t>
            </a:r>
            <a:endParaRPr lang="en-US" sz="950" dirty="0"/>
          </a:p>
        </p:txBody>
      </p:sp>
      <p:sp>
        <p:nvSpPr>
          <p:cNvPr id="10" name="legend-96"/>
          <p:cNvSpPr/>
          <p:nvPr/>
        </p:nvSpPr>
        <p:spPr>
          <a:xfrm>
            <a:off x="2219960" y="4445000"/>
            <a:ext cx="139700" cy="1397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text-97"/>
          <p:cNvSpPr txBox="1"/>
          <p:nvPr/>
        </p:nvSpPr>
        <p:spPr>
          <a:xfrm>
            <a:off x="2423160" y="44196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частично</a:t>
            </a:r>
            <a:endParaRPr lang="en-US" sz="950" dirty="0"/>
          </a:p>
        </p:txBody>
      </p:sp>
      <p:sp>
        <p:nvSpPr>
          <p:cNvPr id="12" name="legend-98"/>
          <p:cNvSpPr/>
          <p:nvPr/>
        </p:nvSpPr>
        <p:spPr>
          <a:xfrm>
            <a:off x="3413760" y="4445000"/>
            <a:ext cx="139700" cy="1397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-99"/>
          <p:cNvSpPr txBox="1"/>
          <p:nvPr/>
        </p:nvSpPr>
        <p:spPr>
          <a:xfrm>
            <a:off x="3616960" y="44196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нет</a:t>
            </a:r>
            <a:endParaRPr lang="en-US" sz="950" dirty="0"/>
          </a:p>
        </p:txBody>
      </p:sp>
      <p:sp>
        <p:nvSpPr>
          <p:cNvPr id="14" name="text-100"/>
          <p:cNvSpPr txBox="1"/>
          <p:nvPr/>
        </p:nvSpPr>
        <p:spPr>
          <a:xfrm>
            <a:off x="4191000" y="4419600"/>
            <a:ext cx="73761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* Расчёт по модели KLM, условия на слайде 4. ** По описанию процессов, у аналогов по документации.</a:t>
            </a:r>
            <a:endParaRPr lang="en-US" sz="950" dirty="0"/>
          </a:p>
        </p:txBody>
      </p:sp>
      <p:sp>
        <p:nvSpPr>
          <p:cNvPr id="15" name="card-101"/>
          <p:cNvSpPr/>
          <p:nvPr/>
        </p:nvSpPr>
        <p:spPr>
          <a:xfrm>
            <a:off x="594360" y="4775200"/>
            <a:ext cx="5397500" cy="1270000"/>
          </a:xfrm>
          <a:prstGeom prst="roundRect">
            <a:avLst>
              <a:gd name="adj" fmla="val 4320"/>
            </a:avLst>
          </a:prstGeom>
          <a:solidFill>
            <a:schemeClr val="accent1"/>
          </a:solidFill>
          <a:ln/>
        </p:spPr>
      </p:sp>
      <p:sp>
        <p:nvSpPr>
          <p:cNvPr id="16" name="text-102"/>
          <p:cNvSpPr txBox="1"/>
          <p:nvPr/>
        </p:nvSpPr>
        <p:spPr>
          <a:xfrm>
            <a:off x="787400" y="49276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CBD8"/>
                </a:solidFill>
              </a:rPr>
              <a:t>ВЫВОД</a:t>
            </a:r>
            <a:endParaRPr lang="en-US" sz="900" dirty="0"/>
          </a:p>
        </p:txBody>
      </p:sp>
      <p:sp>
        <p:nvSpPr>
          <p:cNvPr id="17" name="text-103"/>
          <p:cNvSpPr txBox="1"/>
          <p:nvPr/>
        </p:nvSpPr>
        <p:spPr>
          <a:xfrm>
            <a:off x="787400" y="5156200"/>
            <a:ext cx="5016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Покупателю везде нужно около минуты и 15–16 действий. По остальным критериям прототип пока уступает 1С-Битрикс: в фильтре два атрибута из четырёх, интеграции не доделаны, учёта по партиям нет.</a:t>
            </a:r>
            <a:endParaRPr lang="en-US" sz="1100" dirty="0"/>
          </a:p>
        </p:txBody>
      </p:sp>
      <p:sp>
        <p:nvSpPr>
          <p:cNvPr id="18" name="card-104"/>
          <p:cNvSpPr/>
          <p:nvPr/>
        </p:nvSpPr>
        <p:spPr>
          <a:xfrm>
            <a:off x="6169660" y="4775200"/>
            <a:ext cx="5397500" cy="1270000"/>
          </a:xfrm>
          <a:prstGeom prst="roundRect">
            <a:avLst>
              <a:gd name="adj" fmla="val 4320"/>
            </a:avLst>
          </a:prstGeom>
          <a:solidFill>
            <a:schemeClr val="bg2"/>
          </a:solidFill>
          <a:ln/>
        </p:spPr>
      </p:sp>
      <p:sp>
        <p:nvSpPr>
          <p:cNvPr id="19" name="text-105"/>
          <p:cNvSpPr txBox="1"/>
          <p:nvPr/>
        </p:nvSpPr>
        <p:spPr>
          <a:xfrm>
            <a:off x="6362700" y="49276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ОГРАНИЧЕНИЕ</a:t>
            </a:r>
            <a:endParaRPr lang="en-US" sz="900" dirty="0"/>
          </a:p>
        </p:txBody>
      </p:sp>
      <p:sp>
        <p:nvSpPr>
          <p:cNvPr id="20" name="text-106"/>
          <p:cNvSpPr txBox="1"/>
          <p:nvPr/>
        </p:nvSpPr>
        <p:spPr>
          <a:xfrm>
            <a:off x="6362700" y="5156200"/>
            <a:ext cx="5016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Это расчёт, а не замер на пользователях. Шаги аналогов взяты из документации, их нужно сверить в демоверсии 1С-Битрикс, шаги прототипа сверить на самом прототипе.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СИЛЬНЫЕ СТОРОНЫ АНАЛОГОВ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Преимущества аналогов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Что готовые решения делают лучше и почему их недостаточно для чайного магазина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6</a:t>
            </a:r>
            <a:endParaRPr lang="en-US" sz="900" dirty="0"/>
          </a:p>
        </p:txBody>
      </p:sp>
      <p:graphicFrame>
        <p:nvGraphicFramePr>
          <p:cNvPr id="8" name="table-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1574800"/>
                <a:gridCol w="3556000"/>
                <a:gridCol w="3429000"/>
                <a:gridCol w="2413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Аналог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Преимущества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Почему не подходит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своя система не делает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Чеки по 54-ФЗ, резерв, фильтр по свойствам, журнал событий и службы доставки работают без доработки. Выполнено 18,5 пункта из 20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Нет партий как учётной единицы. Лицензия стоит 47 000 ₽ и 11 750 ₽ в год, нужен разработчик под 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Маркетинг, CRM, конструктор сайта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Магазин запускается без разработки за 2 295 ₽ в месяц, оплата и доставка подключаются в настройках, сервер обслуживает платформа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Нет партий. Свою логику резерва можно добавить только внешним приложением через API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Магазин приложений, шаблоны дизайна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Полный товарный учёт, партии и серии*, бухгалтерия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Витрина покупается отдельно, обмен идёт по расписанию, поэтому резерва в момент заказа нет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Бухучёт и чеки: их ведут 1С и ОФД, обмен через CommerceML 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Ничего не стоит и не требует подготовки. При небольшом числе заказов работает быстрее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Остатки списываются вручную, резерва нет, история хранится в переписке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-108"/>
          <p:cNvSpPr txBox="1"/>
          <p:nvPr/>
        </p:nvSpPr>
        <p:spPr>
          <a:xfrm>
            <a:off x="594360" y="4927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* Проверить в демо-базе 1С:УТ</a:t>
            </a:r>
            <a:endParaRPr lang="en-US" sz="950" dirty="0"/>
          </a:p>
        </p:txBody>
      </p:sp>
      <p:sp>
        <p:nvSpPr>
          <p:cNvPr id="9" name="card-109"/>
          <p:cNvSpPr/>
          <p:nvPr/>
        </p:nvSpPr>
        <p:spPr>
          <a:xfrm>
            <a:off x="594360" y="5181600"/>
            <a:ext cx="10972800" cy="889000"/>
          </a:xfrm>
          <a:prstGeom prst="roundRect">
            <a:avLst>
              <a:gd name="adj" fmla="val 6171"/>
            </a:avLst>
          </a:prstGeom>
          <a:solidFill>
            <a:schemeClr val="accent1"/>
          </a:solidFill>
          <a:ln/>
        </p:spPr>
      </p:sp>
      <p:sp>
        <p:nvSpPr>
          <p:cNvPr id="10" name="text-110"/>
          <p:cNvSpPr txBox="1"/>
          <p:nvPr/>
        </p:nvSpPr>
        <p:spPr>
          <a:xfrm>
            <a:off x="787400" y="5334000"/>
            <a:ext cx="10591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Готовые решения дают витрину, оплату и чеки. Но ни одно из них не ведёт учёт по партиям вместе с резервом в момент заказа. Под эту задачу и разработана система, а оплату, доставку и фискализацию она получает от внешних сервисов через адаптеры.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ОШИБКИ И СБОИ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Поведение при ошибках и сбоях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Своя система сравнивается с работой без системы. Готовые платформы в этих сценариях не тестировались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7</a:t>
            </a:r>
            <a:endParaRPr lang="en-US" sz="900" dirty="0"/>
          </a:p>
        </p:txBody>
      </p:sp>
      <p:graphicFrame>
        <p:nvGraphicFramePr>
          <p:cNvPr id="9" name="table-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2768600"/>
                <a:gridCol w="2362200"/>
                <a:gridCol w="3429000"/>
                <a:gridCol w="2413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Ситуация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Сообщения + Excel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Своя система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Чем подтверждено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Двое покупателей берут последнюю пачку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обоим отвечают, что товар есть, конфликт решается вручную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резерв в транзакции, второй покупатель видит «нет в наличии» (UC-01, п. 3а)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только спецификация, тест не проводился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Отказ оплаты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продавец выясняет в переписке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заказ остаётся в статусе «Ожидает оплату» (UC-01, п. 5а)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отчёт, табл. 6: обработку отказа нужно доработать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Ошибка ввода в карточке товара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ошибка попадает в таблицу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система проверяет данные и показывает ошибку (UC-02, п. 3а)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только спецификация, тест не проводился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Пользователь без прав открывает админ-панель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таблицу видит любой, у кого есть ссылка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доступ закрыт настройками ролей (F-15)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отчёт, разд. 2.7: роли внедрены, отдельного теста не было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Обновление страницы, двойной клик, обрыв связи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заказ не теряется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тест, отчёт, разд. 2.6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Недоступен платёжный шлюз или служба доставки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по проекту заказ сохраняется в статусе «Ожидает оплату»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 проверялось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Нагрузка 100 RPS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отклик 1,2 с, успешных запросов 99,8 % (норма N-01 до 2 с)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тест Apache Benchmark, отчёт, табл. 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8" name="legend-112"/>
          <p:cNvSpPr/>
          <p:nvPr/>
        </p:nvSpPr>
        <p:spPr>
          <a:xfrm>
            <a:off x="594360" y="5511800"/>
            <a:ext cx="139700" cy="1397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-113"/>
          <p:cNvSpPr txBox="1"/>
          <p:nvPr/>
        </p:nvSpPr>
        <p:spPr>
          <a:xfrm>
            <a:off x="797560" y="54864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проверено тестом</a:t>
            </a:r>
            <a:endParaRPr lang="en-US" sz="950" dirty="0"/>
          </a:p>
        </p:txBody>
      </p:sp>
      <p:sp>
        <p:nvSpPr>
          <p:cNvPr id="10" name="legend-114"/>
          <p:cNvSpPr/>
          <p:nvPr/>
        </p:nvSpPr>
        <p:spPr>
          <a:xfrm>
            <a:off x="2372360" y="5511800"/>
            <a:ext cx="139700" cy="1397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text-115"/>
          <p:cNvSpPr txBox="1"/>
          <p:nvPr/>
        </p:nvSpPr>
        <p:spPr>
          <a:xfrm>
            <a:off x="2575560" y="54864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только по документам или не проверялось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ОГРАНИЧЕНИЯ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Ограничения и область применения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Слабые стороны решения и условия, в которых выгоднее выбрать аналог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8</a:t>
            </a:r>
            <a:endParaRPr lang="en-US" sz="900" dirty="0"/>
          </a:p>
        </p:txBody>
      </p:sp>
      <p:sp>
        <p:nvSpPr>
          <p:cNvPr id="7" name="card-116"/>
          <p:cNvSpPr/>
          <p:nvPr/>
        </p:nvSpPr>
        <p:spPr>
          <a:xfrm>
            <a:off x="594360" y="1778000"/>
            <a:ext cx="5588000" cy="4267200"/>
          </a:xfrm>
          <a:prstGeom prst="roundRect">
            <a:avLst>
              <a:gd name="adj" fmla="val 1286"/>
            </a:avLst>
          </a:prstGeom>
          <a:solidFill>
            <a:schemeClr val="bg2"/>
          </a:solidFill>
          <a:ln/>
        </p:spPr>
      </p:sp>
      <p:sp>
        <p:nvSpPr>
          <p:cNvPr id="8" name="text-117"/>
          <p:cNvSpPr txBox="1"/>
          <p:nvPr/>
        </p:nvSpPr>
        <p:spPr>
          <a:xfrm>
            <a:off x="787400" y="19304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ОГРАНИЧЕНИЯ</a:t>
            </a:r>
            <a:endParaRPr lang="en-US" sz="900" dirty="0"/>
          </a:p>
        </p:txBody>
      </p:sp>
      <p:sp>
        <p:nvSpPr>
          <p:cNvPr id="9" name="badge-118"/>
          <p:cNvSpPr/>
          <p:nvPr/>
        </p:nvSpPr>
        <p:spPr>
          <a:xfrm>
            <a:off x="787400" y="2286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-119"/>
          <p:cNvSpPr txBox="1"/>
          <p:nvPr/>
        </p:nvSpPr>
        <p:spPr>
          <a:xfrm>
            <a:off x="787400" y="228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-120"/>
          <p:cNvSpPr txBox="1"/>
          <p:nvPr/>
        </p:nvSpPr>
        <p:spPr>
          <a:xfrm>
            <a:off x="1193800" y="2209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 числу выполненных пунктов готовые решения впереди: у 1С-Битрикс 18,5 из 20, у прототипа 10,5–14,5</a:t>
            </a:r>
            <a:endParaRPr lang="en-US" sz="1100" dirty="0"/>
          </a:p>
        </p:txBody>
      </p:sp>
      <p:sp>
        <p:nvSpPr>
          <p:cNvPr id="12" name="badge-121"/>
          <p:cNvSpPr/>
          <p:nvPr/>
        </p:nvSpPr>
        <p:spPr>
          <a:xfrm>
            <a:off x="787400" y="2921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122"/>
          <p:cNvSpPr txBox="1"/>
          <p:nvPr/>
        </p:nvSpPr>
        <p:spPr>
          <a:xfrm>
            <a:off x="787400" y="2921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-123"/>
          <p:cNvSpPr txBox="1"/>
          <p:nvPr/>
        </p:nvSpPr>
        <p:spPr>
          <a:xfrm>
            <a:off x="1193800" y="284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Оплата, доставка и фискализация подключены через адаптеры не полностью</a:t>
            </a:r>
            <a:endParaRPr lang="en-US" sz="1100" dirty="0"/>
          </a:p>
        </p:txBody>
      </p:sp>
      <p:sp>
        <p:nvSpPr>
          <p:cNvPr id="15" name="badge-124"/>
          <p:cNvSpPr/>
          <p:nvPr/>
        </p:nvSpPr>
        <p:spPr>
          <a:xfrm>
            <a:off x="787400" y="3556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-125"/>
          <p:cNvSpPr txBox="1"/>
          <p:nvPr/>
        </p:nvSpPr>
        <p:spPr>
          <a:xfrm>
            <a:off x="787400" y="355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-126"/>
          <p:cNvSpPr txBox="1"/>
          <p:nvPr/>
        </p:nvSpPr>
        <p:spPr>
          <a:xfrm>
            <a:off x="1193800" y="3479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При нагрузке выше 100 RPS отклик растёт до 1,9 с (150 RPS) и 2,8 с (200 RPS). План: кеш Redis, CDN, ASGI</a:t>
            </a:r>
            <a:endParaRPr lang="en-US" sz="1100" dirty="0"/>
          </a:p>
        </p:txBody>
      </p:sp>
      <p:sp>
        <p:nvSpPr>
          <p:cNvPr id="18" name="badge-127"/>
          <p:cNvSpPr/>
          <p:nvPr/>
        </p:nvSpPr>
        <p:spPr>
          <a:xfrm>
            <a:off x="787400" y="4191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-128"/>
          <p:cNvSpPr txBox="1"/>
          <p:nvPr/>
        </p:nvSpPr>
        <p:spPr>
          <a:xfrm>
            <a:off x="787400" y="4191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-129"/>
          <p:cNvSpPr txBox="1"/>
          <p:nvPr/>
        </p:nvSpPr>
        <p:spPr>
          <a:xfrm>
            <a:off x="1193800" y="411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Нет production-стенда, замеры сделаны на локальном сервере (4 ядра, 8 ГБ, Docker)</a:t>
            </a:r>
            <a:endParaRPr lang="en-US" sz="1100" dirty="0"/>
          </a:p>
        </p:txBody>
      </p:sp>
      <p:sp>
        <p:nvSpPr>
          <p:cNvPr id="21" name="badge-130"/>
          <p:cNvSpPr/>
          <p:nvPr/>
        </p:nvSpPr>
        <p:spPr>
          <a:xfrm>
            <a:off x="787400" y="4826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-131"/>
          <p:cNvSpPr txBox="1"/>
          <p:nvPr/>
        </p:nvSpPr>
        <p:spPr>
          <a:xfrm>
            <a:off x="787400" y="482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-132"/>
          <p:cNvSpPr txBox="1"/>
          <p:nvPr/>
        </p:nvSpPr>
        <p:spPr>
          <a:xfrm>
            <a:off x="1193800" y="4749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прототипе нет учёта по партиям, в фильтре два атрибута из четырёх</a:t>
            </a:r>
            <a:endParaRPr lang="en-US" sz="1100" dirty="0"/>
          </a:p>
        </p:txBody>
      </p:sp>
      <p:sp>
        <p:nvSpPr>
          <p:cNvPr id="24" name="badge-133"/>
          <p:cNvSpPr/>
          <p:nvPr/>
        </p:nvSpPr>
        <p:spPr>
          <a:xfrm>
            <a:off x="787400" y="5461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-134"/>
          <p:cNvSpPr txBox="1"/>
          <p:nvPr/>
        </p:nvSpPr>
        <p:spPr>
          <a:xfrm>
            <a:off x="787400" y="5461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6</a:t>
            </a:r>
            <a:endParaRPr lang="en-US" sz="1000" dirty="0"/>
          </a:p>
        </p:txBody>
      </p:sp>
      <p:sp>
        <p:nvSpPr>
          <p:cNvPr id="26" name="text-135"/>
          <p:cNvSpPr txBox="1"/>
          <p:nvPr/>
        </p:nvSpPr>
        <p:spPr>
          <a:xfrm>
            <a:off x="1193800" y="538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Собственную систему нужно разрабатывать и сопровождать, затраты посчитаны в гл. 3 ВКР</a:t>
            </a:r>
            <a:endParaRPr lang="en-US" sz="1100" dirty="0"/>
          </a:p>
        </p:txBody>
      </p:sp>
      <p:graphicFrame>
        <p:nvGraphicFramePr>
          <p:cNvPr id="10" name="table-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7620" y="1778000"/>
          <a:ext cx="520954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7805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Условия магазина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Подходящий вариант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Мало заказов, небольшой ассортимент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Нужен быстрый запуск без разработки, партии не важны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Нужны чеки и резерв из коробки, партии не важны, есть бюджет на лицензию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Уже работают 1С и розничная точка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Партии, поиск по атрибутам и резерв нужны в одной системе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Своя система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28" name="text-137"/>
          <p:cNvSpPr txBox="1"/>
          <p:nvPr/>
        </p:nvSpPr>
        <p:spPr>
          <a:xfrm>
            <a:off x="6357620" y="5232400"/>
            <a:ext cx="52095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Основной сценарий и учёт работают. Ограничения связаны с интеграциями, которые вынесены в адаптеры.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ВЫВОДЫ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Выводы и вклад автора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По результатам сравнения с семью аналогами и работой без системы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9</a:t>
            </a:r>
            <a:endParaRPr lang="en-US" sz="900" dirty="0"/>
          </a:p>
        </p:txBody>
      </p:sp>
      <p:sp>
        <p:nvSpPr>
          <p:cNvPr id="7" name="card-138"/>
          <p:cNvSpPr/>
          <p:nvPr/>
        </p:nvSpPr>
        <p:spPr>
          <a:xfrm>
            <a:off x="594360" y="1778000"/>
            <a:ext cx="10972800" cy="1092200"/>
          </a:xfrm>
          <a:prstGeom prst="roundRect">
            <a:avLst>
              <a:gd name="adj" fmla="val 5023"/>
            </a:avLst>
          </a:prstGeom>
          <a:solidFill>
            <a:schemeClr val="accent1"/>
          </a:solidFill>
          <a:ln/>
        </p:spPr>
      </p:sp>
      <p:sp>
        <p:nvSpPr>
          <p:cNvPr id="8" name="text-139"/>
          <p:cNvSpPr txBox="1"/>
          <p:nvPr/>
        </p:nvSpPr>
        <p:spPr>
          <a:xfrm>
            <a:off x="787400" y="1930400"/>
            <a:ext cx="105918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По числу выполненных пунктов готовые решения впереди, покупателю везде нужна примерно минута. Ни один аналог не ведёт учёт по партиям вместе с резервом в момент заказа, и под эту задачу разрабатывается система. В прототипе партий пока нет, их нужно добавить. Если партии магазину не важны, лучше выбрать один из аналогов со слайда 8.</a:t>
            </a:r>
            <a:endParaRPr lang="en-US" sz="1200" dirty="0"/>
          </a:p>
        </p:txBody>
      </p:sp>
      <p:sp>
        <p:nvSpPr>
          <p:cNvPr id="9" name="text-140"/>
          <p:cNvSpPr txBox="1"/>
          <p:nvPr/>
        </p:nvSpPr>
        <p:spPr>
          <a:xfrm>
            <a:off x="594360" y="30734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ВКЛАД АВТОРА</a:t>
            </a:r>
            <a:endParaRPr lang="en-US" sz="900" dirty="0"/>
          </a:p>
        </p:txBody>
      </p:sp>
      <p:sp>
        <p:nvSpPr>
          <p:cNvPr id="10" name="card-141"/>
          <p:cNvSpPr/>
          <p:nvPr/>
        </p:nvSpPr>
        <p:spPr>
          <a:xfrm>
            <a:off x="594360" y="33274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11" name="text-142"/>
          <p:cNvSpPr txBox="1"/>
          <p:nvPr/>
        </p:nvSpPr>
        <p:spPr>
          <a:xfrm>
            <a:off x="797560" y="35052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Анализ</a:t>
            </a:r>
            <a:endParaRPr lang="en-US" sz="1150" dirty="0"/>
          </a:p>
        </p:txBody>
      </p:sp>
      <p:sp>
        <p:nvSpPr>
          <p:cNvPr id="12" name="text-143"/>
          <p:cNvSpPr txBox="1"/>
          <p:nvPr/>
        </p:nvSpPr>
        <p:spPr>
          <a:xfrm>
            <a:off x="797560" y="37846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Описан текущий процесс, сформулировано 17 функциональных и 13 нефункциональных требований</a:t>
            </a:r>
            <a:endParaRPr lang="en-US" sz="1100" dirty="0"/>
          </a:p>
        </p:txBody>
      </p:sp>
      <p:sp>
        <p:nvSpPr>
          <p:cNvPr id="13" name="card-144"/>
          <p:cNvSpPr/>
          <p:nvPr/>
        </p:nvSpPr>
        <p:spPr>
          <a:xfrm>
            <a:off x="4307840" y="33274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14" name="text-145"/>
          <p:cNvSpPr txBox="1"/>
          <p:nvPr/>
        </p:nvSpPr>
        <p:spPr>
          <a:xfrm>
            <a:off x="4511040" y="35052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Модели</a:t>
            </a:r>
            <a:endParaRPr lang="en-US" sz="1150" dirty="0"/>
          </a:p>
        </p:txBody>
      </p:sp>
      <p:sp>
        <p:nvSpPr>
          <p:cNvPr id="15" name="text-146"/>
          <p:cNvSpPr txBox="1"/>
          <p:nvPr/>
        </p:nvSpPr>
        <p:spPr>
          <a:xfrm>
            <a:off x="4511040" y="37846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IDEF0, варианты использования, диаграмма состояний заказа, классы, компоненты</a:t>
            </a:r>
            <a:endParaRPr lang="en-US" sz="1100" dirty="0"/>
          </a:p>
        </p:txBody>
      </p:sp>
      <p:sp>
        <p:nvSpPr>
          <p:cNvPr id="16" name="card-147"/>
          <p:cNvSpPr/>
          <p:nvPr/>
        </p:nvSpPr>
        <p:spPr>
          <a:xfrm>
            <a:off x="8021320" y="33274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17" name="text-148"/>
          <p:cNvSpPr txBox="1"/>
          <p:nvPr/>
        </p:nvSpPr>
        <p:spPr>
          <a:xfrm>
            <a:off x="8224520" y="35052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База данных</a:t>
            </a:r>
            <a:endParaRPr lang="en-US" sz="1150" dirty="0"/>
          </a:p>
        </p:txBody>
      </p:sp>
      <p:sp>
        <p:nvSpPr>
          <p:cNvPr id="18" name="text-149"/>
          <p:cNvSpPr txBox="1"/>
          <p:nvPr/>
        </p:nvSpPr>
        <p:spPr>
          <a:xfrm>
            <a:off x="8224520" y="37846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Схема PostgreSQL в 3НФ: каталог, заказы, резерв, роли</a:t>
            </a:r>
            <a:endParaRPr lang="en-US" sz="1100" dirty="0"/>
          </a:p>
        </p:txBody>
      </p:sp>
      <p:sp>
        <p:nvSpPr>
          <p:cNvPr id="19" name="card-150"/>
          <p:cNvSpPr/>
          <p:nvPr/>
        </p:nvSpPr>
        <p:spPr>
          <a:xfrm>
            <a:off x="594360" y="46863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20" name="text-151"/>
          <p:cNvSpPr txBox="1"/>
          <p:nvPr/>
        </p:nvSpPr>
        <p:spPr>
          <a:xfrm>
            <a:off x="797560" y="48641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Прототип</a:t>
            </a:r>
            <a:endParaRPr lang="en-US" sz="1150" dirty="0"/>
          </a:p>
        </p:txBody>
      </p:sp>
      <p:sp>
        <p:nvSpPr>
          <p:cNvPr id="21" name="text-152"/>
          <p:cNvSpPr txBox="1"/>
          <p:nvPr/>
        </p:nvSpPr>
        <p:spPr>
          <a:xfrm>
            <a:off x="797560" y="51435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Flask и Vue.js: фильтры, оформление заказа с резервом, роли, админ-панель</a:t>
            </a:r>
            <a:endParaRPr lang="en-US" sz="1100" dirty="0"/>
          </a:p>
        </p:txBody>
      </p:sp>
      <p:sp>
        <p:nvSpPr>
          <p:cNvPr id="22" name="card-153"/>
          <p:cNvSpPr/>
          <p:nvPr/>
        </p:nvSpPr>
        <p:spPr>
          <a:xfrm>
            <a:off x="4307840" y="46863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23" name="text-154"/>
          <p:cNvSpPr txBox="1"/>
          <p:nvPr/>
        </p:nvSpPr>
        <p:spPr>
          <a:xfrm>
            <a:off x="4511040" y="48641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Сравнение</a:t>
            </a:r>
            <a:endParaRPr lang="en-US" sz="1150" dirty="0"/>
          </a:p>
        </p:txBody>
      </p:sp>
      <p:sp>
        <p:nvSpPr>
          <p:cNvPr id="24" name="text-155"/>
          <p:cNvSpPr txBox="1"/>
          <p:nvPr/>
        </p:nvSpPr>
        <p:spPr>
          <a:xfrm>
            <a:off x="4511040" y="51435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Семь аналогов оценены по 20 пунктам с источниками, описан порядок замеров</a:t>
            </a:r>
            <a:endParaRPr lang="en-US" sz="1100" dirty="0"/>
          </a:p>
        </p:txBody>
      </p:sp>
      <p:sp>
        <p:nvSpPr>
          <p:cNvPr id="25" name="card-156"/>
          <p:cNvSpPr/>
          <p:nvPr/>
        </p:nvSpPr>
        <p:spPr>
          <a:xfrm>
            <a:off x="8021320" y="46863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26" name="text-157"/>
          <p:cNvSpPr txBox="1"/>
          <p:nvPr/>
        </p:nvSpPr>
        <p:spPr>
          <a:xfrm>
            <a:off x="8224520" y="48641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Тестирование</a:t>
            </a:r>
            <a:endParaRPr lang="en-US" sz="1150" dirty="0"/>
          </a:p>
        </p:txBody>
      </p:sp>
      <p:sp>
        <p:nvSpPr>
          <p:cNvPr id="27" name="text-158"/>
          <p:cNvSpPr txBox="1"/>
          <p:nvPr/>
        </p:nvSpPr>
        <p:spPr>
          <a:xfrm>
            <a:off x="8224520" y="51435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Пользовательское и нагрузочное, 1,2 с при 100 RPS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Д1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ДОПОЛНИТЕЛЬНЫЙ СЛАЙД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Выполненные пункты по критериям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Сколько пунктов из четырёх выполнено в каждом критерии. Выполненный пункт 1, частично выполненный 0,5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Д1</a:t>
            </a:r>
            <a:endParaRPr lang="en-US" sz="900" dirty="0"/>
          </a:p>
        </p:txBody>
      </p:sp>
      <p:graphicFrame>
        <p:nvGraphicFramePr>
          <p:cNvPr id="12" name="table-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1752600"/>
                <a:gridCol w="1016000"/>
                <a:gridCol w="1016000"/>
                <a:gridCol w="1041400"/>
                <a:gridCol w="1244600"/>
                <a:gridCol w="1524000"/>
                <a:gridCol w="838200"/>
                <a:gridCol w="2540000"/>
              </a:tblGrid>
              <a:tr h="482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Вариант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Требования РФ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Учёт и атрибуты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Оплата и доставка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Расширяемость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Администрирование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Всего из 20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Стоимость в год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18,5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47 000 ₽, затем 11 750 ₽ в год, плюс хостинг и разработка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2,5–3,5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3–4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15–17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около 27 540 ₽ (2 295 ₽ в месяц)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3–4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15–16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[уточнить]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WooCommerce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ядро бесплатно, хостинг и плагины [оценить]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RetailCRM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около 112 320 ₽ (3 пользователя)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Прототип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2–3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1,5–2,5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3–4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2–3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10,5–14,5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[гл. 3 ВКР]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Shopify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2,5–3,5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9,5–10,5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от $39 в месяц [проверить]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около 0 ₽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-160"/>
          <p:cNvSpPr txBox="1"/>
          <p:nvPr/>
        </p:nvSpPr>
        <p:spPr>
          <a:xfrm>
            <a:off x="594360" y="5334000"/>
            <a:ext cx="10972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Пример: расширяемость InSales. API есть (1), вебхуки есть (1), своя логика только во внешнем приложении (0,5), перенести магазин на свой сервер нельзя, выгружаются только товары (0,5). Итого 3 из 4. Диапазон стоит там, где пункт не удалось проверить. Цены на 23.10.2026.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 Navy">
  <a:themeElements>
    <a:clrScheme name="VKR Navy">
      <a:dk1>
        <a:srgbClr val="171520"/>
      </a:dk1>
      <a:lt1>
        <a:srgbClr val="FFFFFF"/>
      </a:lt1>
      <a:dk2>
        <a:srgbClr val="2A253E"/>
      </a:dk2>
      <a:lt2>
        <a:srgbClr val="F3F3F7"/>
      </a:lt2>
      <a:accent1>
        <a:srgbClr val="2A253E"/>
      </a:accent1>
      <a:accent2>
        <a:srgbClr val="5C6175"/>
      </a:accent2>
      <a:accent3>
        <a:srgbClr val="8B91A6"/>
      </a:accent3>
      <a:accent4>
        <a:srgbClr val="DDEFE3"/>
      </a:accent4>
      <a:accent5>
        <a:srgbClr val="FBEFD2"/>
      </a:accent5>
      <a:accent6>
        <a:srgbClr val="F6DCDC"/>
      </a:accent6>
      <a:hlink>
        <a:srgbClr val="2A253E"/>
      </a:hlink>
      <a:folHlink>
        <a:srgbClr val="5C6175"/>
      </a:folHlink>
    </a:clrScheme>
    <a:fontScheme name="VKR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Сравнение веб-системы чайного магазина с аналогами</dc:title>
  <dc:subject>PptxGenJS Presentation</dc:subject>
  <dc:creator>Фирсов В. Д.</dc:creator>
  <cp:lastModifiedBy>Фирсов В. Д.</cp:lastModifiedBy>
  <cp:revision>1</cp:revision>
  <dcterms:created xsi:type="dcterms:W3CDTF">2026-10-23T21:35:26Z</dcterms:created>
  <dcterms:modified xsi:type="dcterms:W3CDTF">2026-10-23T21:35:26Z</dcterms:modified>
</cp:coreProperties>
</file>