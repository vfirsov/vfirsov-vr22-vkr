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7f9d1e81-c86a-8df5-10bf-11ec4b3cca1d}">
          <p14:sldIdLst>
            <p14:sldId id="256"/>
          </p14:sldIdLst>
        </p14:section>
        <p14:section name="Основная часть" id="{1a10a969-4ed1-752e-3b04-cc9226c7d59c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Дополнительные слайды" id="{439f8b0b-9ee1-f555-e783-bfa876c00d98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7152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71520"/>
                </a:solidFill>
                <a:latin typeface="+mn-lt"/>
              </a:rPr>
              <a:t>Среднее время отклика, с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Отклик, с</c:v>
                </c:pt>
              </c:strCache>
            </c:strRef>
          </c:tx>
          <c:spPr>
            <a:solidFill>
              <a:srgbClr val="2A25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15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25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25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25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EA2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EA2B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 RPS</c:v>
                  </c:pt>
                  <c:pt idx="1">
                    <c:v>50 RPS</c:v>
                  </c:pt>
                  <c:pt idx="2">
                    <c:v>100 RPS</c:v>
                  </c:pt>
                  <c:pt idx="3">
                    <c:v>150 RPS</c:v>
                  </c:pt>
                  <c:pt idx="4">
                    <c:v>200 RPS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0.7</c:v>
                </c:pt>
                <c:pt idx="2">
                  <c:v>1.2</c:v>
                </c:pt>
                <c:pt idx="3">
                  <c:v>1.9</c:v>
                </c:pt>
                <c:pt idx="4">
                  <c:v>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715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1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3E4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1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и что сравнивается: три способа продавать чай и вести учёт — без системы, на готовой платформе и в собственной системе.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Сравниваю не стек, а способ, которым магазин решает эти пять проблем. Пользователи — покупатель и сотрудники магазина; основной сценарий — от каталога до статуса заказа.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нулевая точка: семь ручных операций на каждый заказ. При малом потоке заказов такого способа хватает — это честно говорю. Ломается на конфликте за последнюю пачку и на поиске по атрибутам.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Рассмотрел шесть типов аналогов. Сильнейший по сумме функций — 1С-Битрикс; у него нет только партии. Дальше сравниваю с ним и с 1С:УТ — единственным, у кого партия есть.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критериев, каждый связан с проблемой со слайда 1 и с требованием. Все способы проходят один и тот же сценарий на одних и тех же данных, пять повторов.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задача и условие сравнения, затем строка вывода, затем ограничение. Таблицу не зачитывать. Заголовок выбрать по фактическим результатам замеров.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Начать с того, в чём аналоги сильнее, потом объяснить, почему этого мало. Ответ на «почему не Битрикс»: партии нет, плюс лицензия и разработчик под Битрикс.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Две-три строки, начиная с «последней пачки» — это главный сценарий против работы без системы. Сказать вслух, что платформы в негативных сценариях не проверялись.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сумме функций готовые решения сильнее, и я это показываю. Своя система закрывает сочетание, которого нет ни у одного из них. Остальные ограничения касаются интеграций, а их архитектура выносит за адаптеры.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Последняя фраза: «Я не утверждаю, что система лучше всех. Она разумна для этой задачи, этих пользователей, требований и ограничений».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Открывать по вопросу «почему такие баллы». Разобрать пример InSales по пунктам.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Открывать по вопросам о производительности и падении сервера.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Открывать по вопросу «как мерили». До замеров слайд пустой.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Открывать по вопросу «как работает резерв» и «где хранится партия». Таблица batches в модели пока отсутствует.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firsov-vr22-vkr/docs/presentatio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402590"/>
            <a:ext cx="1417320" cy="6299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vfirsov-vr22-vkr/docs/presentatio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402590"/>
            <a:ext cx="1417320" cy="629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74980"/>
            <a:ext cx="603250" cy="60325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5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chemeClr val="accent3"/>
                </a:solidFill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1016000" y="1295400"/>
            <a:ext cx="1016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chemeClr val="accent3"/>
                </a:solidFill>
              </a:rPr>
              <a:t>ФЕДЕРАЛЬНОЕ ГОСУДАРСТВЕННОЕ БЮДЖЕТНОЕ ОБРАЗОВАТЕЛЬНОЕ УЧРЕЖДЕНИЕ ВЫСШЕГО ОБРАЗОВАНИЯ</a:t>
            </a:r>
            <a:endParaRPr lang="en-US" sz="850" dirty="0"/>
          </a:p>
        </p:txBody>
      </p:sp>
      <p:sp>
        <p:nvSpPr>
          <p:cNvPr id="3" name="text-2"/>
          <p:cNvSpPr txBox="1"/>
          <p:nvPr/>
        </p:nvSpPr>
        <p:spPr>
          <a:xfrm>
            <a:off x="1016000" y="1600200"/>
            <a:ext cx="1016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Российская академия народного хозяйства и государственной службы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при Президенте Российской Федерации</a:t>
            </a:r>
            <a:endParaRPr lang="en-US" sz="1500" dirty="0"/>
          </a:p>
        </p:txBody>
      </p:sp>
      <p:sp>
        <p:nvSpPr>
          <p:cNvPr id="4" name="text-3"/>
          <p:cNvSpPr txBox="1"/>
          <p:nvPr/>
        </p:nvSpPr>
        <p:spPr>
          <a:xfrm>
            <a:off x="1016000" y="2209800"/>
            <a:ext cx="1016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Факультет информационных технологий и анализа данных · Кафедра системного анализа и информатики</a:t>
            </a:r>
            <a:endParaRPr lang="en-US" sz="950" dirty="0"/>
          </a:p>
        </p:txBody>
      </p:sp>
      <p:sp>
        <p:nvSpPr>
          <p:cNvPr id="5" name="pill"/>
          <p:cNvSpPr/>
          <p:nvPr/>
        </p:nvSpPr>
        <p:spPr>
          <a:xfrm>
            <a:off x="4198620" y="2692400"/>
            <a:ext cx="3794760" cy="420370"/>
          </a:xfrm>
          <a:prstGeom prst="roundRect">
            <a:avLst>
              <a:gd name="adj" fmla="val 50030"/>
            </a:avLst>
          </a:prstGeom>
          <a:solidFill>
            <a:schemeClr val="accent1"/>
          </a:solidFill>
          <a:ln/>
        </p:spPr>
      </p:sp>
      <p:sp>
        <p:nvSpPr>
          <p:cNvPr id="6" name="text-4"/>
          <p:cNvSpPr txBox="1"/>
          <p:nvPr/>
        </p:nvSpPr>
        <p:spPr>
          <a:xfrm>
            <a:off x="4198620" y="2692400"/>
            <a:ext cx="3794760" cy="4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</a:rPr>
              <a:t>СРАВНЕНИЕ С АНАЛОГАМИ</a:t>
            </a:r>
            <a:endParaRPr lang="en-US" sz="1100" dirty="0"/>
          </a:p>
        </p:txBody>
      </p:sp>
      <p:sp>
        <p:nvSpPr>
          <p:cNvPr id="7" name="text-5"/>
          <p:cNvSpPr txBox="1"/>
          <p:nvPr/>
        </p:nvSpPr>
        <p:spPr>
          <a:xfrm>
            <a:off x="1016000" y="3429000"/>
            <a:ext cx="10160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Сравнение веб-системы</a:t>
            </a:r>
            <a:endParaRPr lang="en-US" sz="2800" dirty="0"/>
          </a:p>
          <a:p>
            <a:pPr algn="ctr" indent="0" marL="0">
              <a:lnSpc>
                <a:spcPts val="39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чайного магазина с аналогами</a:t>
            </a:r>
            <a:endParaRPr lang="en-US" sz="2800" dirty="0"/>
          </a:p>
        </p:txBody>
      </p:sp>
      <p:sp>
        <p:nvSpPr>
          <p:cNvPr id="8" name="text-6"/>
          <p:cNvSpPr txBox="1"/>
          <p:nvPr/>
        </p:nvSpPr>
        <p:spPr>
          <a:xfrm>
            <a:off x="1016000" y="4648200"/>
            <a:ext cx="1016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ВКР «Разработка информационной веб-системы для управления продажами и учёта ассортимента в чайном магазине»</a:t>
            </a:r>
            <a:endParaRPr lang="en-US" sz="1200" dirty="0"/>
          </a:p>
        </p:txBody>
      </p:sp>
      <p:sp>
        <p:nvSpPr>
          <p:cNvPr id="9" name="text-7"/>
          <p:cNvSpPr txBox="1"/>
          <p:nvPr/>
        </p:nvSpPr>
        <p:spPr>
          <a:xfrm>
            <a:off x="1016000" y="5003800"/>
            <a:ext cx="1016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Фирсов Виктор Дмитриевич · руководитель — к. ф.-м. н., доцент Пономарёва Людмила Алексеевна</a:t>
            </a:r>
            <a:endParaRPr lang="en-US" sz="1100" dirty="0"/>
          </a:p>
        </p:txBody>
      </p:sp>
      <p:sp>
        <p:nvSpPr>
          <p:cNvPr id="10" name="text-8"/>
          <p:cNvSpPr txBox="1"/>
          <p:nvPr/>
        </p:nvSpPr>
        <p:spPr>
          <a:xfrm>
            <a:off x="1016000" y="5715000"/>
            <a:ext cx="1016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Направление подготовки 09.03.03 «Прикладная информатика», профиль «Веб-разработка»</a:t>
            </a:r>
            <a:endParaRPr lang="en-US" sz="1050" dirty="0"/>
          </a:p>
        </p:txBody>
      </p:sp>
      <p:sp>
        <p:nvSpPr>
          <p:cNvPr id="11" name="text-9"/>
          <p:cNvSpPr txBox="1"/>
          <p:nvPr/>
        </p:nvSpPr>
        <p:spPr>
          <a:xfrm>
            <a:off x="1016000" y="6007100"/>
            <a:ext cx="1016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Москва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ЗАДАЧА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Задача: продавать чай по его атрибутам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Сравнивается способ, которым магазин решает задачу, а не стек технологий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1</a:t>
            </a:r>
            <a:endParaRPr lang="en-US" sz="900" dirty="0"/>
          </a:p>
        </p:txBody>
      </p:sp>
      <p:sp>
        <p:nvSpPr>
          <p:cNvPr id="7" name="card-10"/>
          <p:cNvSpPr/>
          <p:nvPr/>
        </p:nvSpPr>
        <p:spPr>
          <a:xfrm>
            <a:off x="594360" y="1778000"/>
            <a:ext cx="5334000" cy="3276600"/>
          </a:xfrm>
          <a:prstGeom prst="roundRect">
            <a:avLst>
              <a:gd name="adj" fmla="val 1674"/>
            </a:avLst>
          </a:prstGeom>
          <a:solidFill>
            <a:schemeClr val="bg2"/>
          </a:solidFill>
          <a:ln/>
        </p:spPr>
      </p:sp>
      <p:sp>
        <p:nvSpPr>
          <p:cNvPr id="8" name="text-11"/>
          <p:cNvSpPr txBox="1"/>
          <p:nvPr/>
        </p:nvSpPr>
        <p:spPr>
          <a:xfrm>
            <a:off x="787400" y="1930400"/>
            <a:ext cx="495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КАК ЕСТЬ · ВКР, РАЗД. 1.3.9</a:t>
            </a:r>
            <a:endParaRPr lang="en-US" sz="900" dirty="0"/>
          </a:p>
        </p:txBody>
      </p:sp>
      <p:sp>
        <p:nvSpPr>
          <p:cNvPr id="9" name="badge-12"/>
          <p:cNvSpPr/>
          <p:nvPr/>
        </p:nvSpPr>
        <p:spPr>
          <a:xfrm>
            <a:off x="787400" y="23241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-13"/>
          <p:cNvSpPr txBox="1"/>
          <p:nvPr/>
        </p:nvSpPr>
        <p:spPr>
          <a:xfrm>
            <a:off x="787400" y="23241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-14"/>
          <p:cNvSpPr txBox="1"/>
          <p:nvPr/>
        </p:nvSpPr>
        <p:spPr>
          <a:xfrm>
            <a:off x="1193800" y="2235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Остатки ведутся в таблицах — можно продать отсутствующую позицию</a:t>
            </a:r>
            <a:endParaRPr lang="en-US" sz="1150" dirty="0"/>
          </a:p>
        </p:txBody>
      </p:sp>
      <p:sp>
        <p:nvSpPr>
          <p:cNvPr id="12" name="badge-15"/>
          <p:cNvSpPr/>
          <p:nvPr/>
        </p:nvSpPr>
        <p:spPr>
          <a:xfrm>
            <a:off x="787400" y="28575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-16"/>
          <p:cNvSpPr txBox="1"/>
          <p:nvPr/>
        </p:nvSpPr>
        <p:spPr>
          <a:xfrm>
            <a:off x="787400" y="28575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-17"/>
          <p:cNvSpPr txBox="1"/>
          <p:nvPr/>
        </p:nvSpPr>
        <p:spPr>
          <a:xfrm>
            <a:off x="1193800" y="276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Заказы из телефона, мессенджеров и маркетплейсов нигде не сводятся</a:t>
            </a:r>
            <a:endParaRPr lang="en-US" sz="1150" dirty="0"/>
          </a:p>
        </p:txBody>
      </p:sp>
      <p:sp>
        <p:nvSpPr>
          <p:cNvPr id="15" name="badge-18"/>
          <p:cNvSpPr/>
          <p:nvPr/>
        </p:nvSpPr>
        <p:spPr>
          <a:xfrm>
            <a:off x="787400" y="33909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-19"/>
          <p:cNvSpPr txBox="1"/>
          <p:nvPr/>
        </p:nvSpPr>
        <p:spPr>
          <a:xfrm>
            <a:off x="787400" y="33909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-20"/>
          <p:cNvSpPr txBox="1"/>
          <p:nvPr/>
        </p:nvSpPr>
        <p:spPr>
          <a:xfrm>
            <a:off x="1193800" y="330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Чай нельзя найти по сорту, региону, обработке и вкусу</a:t>
            </a:r>
            <a:endParaRPr lang="en-US" sz="1150" dirty="0"/>
          </a:p>
        </p:txBody>
      </p:sp>
      <p:sp>
        <p:nvSpPr>
          <p:cNvPr id="18" name="badge-21"/>
          <p:cNvSpPr/>
          <p:nvPr/>
        </p:nvSpPr>
        <p:spPr>
          <a:xfrm>
            <a:off x="787400" y="39243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-22"/>
          <p:cNvSpPr txBox="1"/>
          <p:nvPr/>
        </p:nvSpPr>
        <p:spPr>
          <a:xfrm>
            <a:off x="787400" y="39243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-23"/>
          <p:cNvSpPr txBox="1"/>
          <p:nvPr/>
        </p:nvSpPr>
        <p:spPr>
          <a:xfrm>
            <a:off x="1193800" y="3835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Партию (год урожая, регион, поставщик) не отследить</a:t>
            </a:r>
            <a:endParaRPr lang="en-US" sz="1150" dirty="0"/>
          </a:p>
        </p:txBody>
      </p:sp>
      <p:sp>
        <p:nvSpPr>
          <p:cNvPr id="21" name="badge-24"/>
          <p:cNvSpPr/>
          <p:nvPr/>
        </p:nvSpPr>
        <p:spPr>
          <a:xfrm>
            <a:off x="787400" y="44577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-25"/>
          <p:cNvSpPr txBox="1"/>
          <p:nvPr/>
        </p:nvSpPr>
        <p:spPr>
          <a:xfrm>
            <a:off x="787400" y="44577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-26"/>
          <p:cNvSpPr txBox="1"/>
          <p:nvPr/>
        </p:nvSpPr>
        <p:spPr>
          <a:xfrm>
            <a:off x="1193800" y="436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Статус заказа покупатель узнаёт звонком</a:t>
            </a:r>
            <a:endParaRPr lang="en-US" sz="1150" dirty="0"/>
          </a:p>
        </p:txBody>
      </p:sp>
      <p:sp>
        <p:nvSpPr>
          <p:cNvPr id="24" name="card-27"/>
          <p:cNvSpPr/>
          <p:nvPr/>
        </p:nvSpPr>
        <p:spPr>
          <a:xfrm>
            <a:off x="6231890" y="1778000"/>
            <a:ext cx="5335270" cy="3276600"/>
          </a:xfrm>
          <a:prstGeom prst="roundRect">
            <a:avLst>
              <a:gd name="adj" fmla="val 1674"/>
            </a:avLst>
          </a:prstGeom>
          <a:solidFill>
            <a:schemeClr val="bg2"/>
          </a:solidFill>
          <a:ln/>
        </p:spPr>
      </p:sp>
      <p:sp>
        <p:nvSpPr>
          <p:cNvPr id="25" name="text-28"/>
          <p:cNvSpPr txBox="1"/>
          <p:nvPr/>
        </p:nvSpPr>
        <p:spPr>
          <a:xfrm>
            <a:off x="6426200" y="1930400"/>
            <a:ext cx="495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ПОКУПАТЕЛЬ · ОСНОВНОЙ СЦЕНАРИЙ</a:t>
            </a:r>
            <a:endParaRPr lang="en-US" sz="900" dirty="0"/>
          </a:p>
        </p:txBody>
      </p:sp>
      <p:sp>
        <p:nvSpPr>
          <p:cNvPr id="26" name="step-29"/>
          <p:cNvSpPr/>
          <p:nvPr/>
        </p:nvSpPr>
        <p:spPr>
          <a:xfrm>
            <a:off x="6426200" y="2209800"/>
            <a:ext cx="4940300" cy="317500"/>
          </a:xfrm>
          <a:prstGeom prst="roundRect">
            <a:avLst>
              <a:gd name="adj" fmla="val 17280"/>
            </a:avLst>
          </a:prstGeom>
          <a:solidFill>
            <a:schemeClr val="bg1"/>
          </a:solidFill>
          <a:ln/>
        </p:spPr>
      </p:sp>
      <p:sp>
        <p:nvSpPr>
          <p:cNvPr id="27" name="text-30"/>
          <p:cNvSpPr txBox="1"/>
          <p:nvPr/>
        </p:nvSpPr>
        <p:spPr>
          <a:xfrm>
            <a:off x="6426200" y="2209800"/>
            <a:ext cx="49403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Каталог</a:t>
            </a:r>
            <a:endParaRPr lang="en-US" sz="1100" dirty="0"/>
          </a:p>
        </p:txBody>
      </p:sp>
      <p:sp>
        <p:nvSpPr>
          <p:cNvPr id="28" name="arrow-31"/>
          <p:cNvSpPr/>
          <p:nvPr/>
        </p:nvSpPr>
        <p:spPr>
          <a:xfrm>
            <a:off x="8839200" y="2552700"/>
            <a:ext cx="114300" cy="10160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29" name="step-32"/>
          <p:cNvSpPr/>
          <p:nvPr/>
        </p:nvSpPr>
        <p:spPr>
          <a:xfrm>
            <a:off x="6426200" y="2667000"/>
            <a:ext cx="4940300" cy="317500"/>
          </a:xfrm>
          <a:prstGeom prst="roundRect">
            <a:avLst>
              <a:gd name="adj" fmla="val 17280"/>
            </a:avLst>
          </a:prstGeom>
          <a:solidFill>
            <a:schemeClr val="bg1"/>
          </a:solidFill>
          <a:ln/>
        </p:spPr>
      </p:sp>
      <p:sp>
        <p:nvSpPr>
          <p:cNvPr id="30" name="text-33"/>
          <p:cNvSpPr txBox="1"/>
          <p:nvPr/>
        </p:nvSpPr>
        <p:spPr>
          <a:xfrm>
            <a:off x="6426200" y="2667000"/>
            <a:ext cx="49403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Фильтр по виду, региону, обработке и вкусу</a:t>
            </a:r>
            <a:endParaRPr lang="en-US" sz="1100" dirty="0"/>
          </a:p>
        </p:txBody>
      </p:sp>
      <p:sp>
        <p:nvSpPr>
          <p:cNvPr id="31" name="arrow-34"/>
          <p:cNvSpPr/>
          <p:nvPr/>
        </p:nvSpPr>
        <p:spPr>
          <a:xfrm>
            <a:off x="8839200" y="3009900"/>
            <a:ext cx="114300" cy="10160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32" name="step-35"/>
          <p:cNvSpPr/>
          <p:nvPr/>
        </p:nvSpPr>
        <p:spPr>
          <a:xfrm>
            <a:off x="6426200" y="3124200"/>
            <a:ext cx="4940300" cy="317500"/>
          </a:xfrm>
          <a:prstGeom prst="roundRect">
            <a:avLst>
              <a:gd name="adj" fmla="val 17280"/>
            </a:avLst>
          </a:prstGeom>
          <a:solidFill>
            <a:schemeClr val="bg1"/>
          </a:solidFill>
          <a:ln/>
        </p:spPr>
      </p:sp>
      <p:sp>
        <p:nvSpPr>
          <p:cNvPr id="33" name="text-36"/>
          <p:cNvSpPr txBox="1"/>
          <p:nvPr/>
        </p:nvSpPr>
        <p:spPr>
          <a:xfrm>
            <a:off x="6426200" y="3124200"/>
            <a:ext cx="49403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Корзина</a:t>
            </a:r>
            <a:endParaRPr lang="en-US" sz="1100" dirty="0"/>
          </a:p>
        </p:txBody>
      </p:sp>
      <p:sp>
        <p:nvSpPr>
          <p:cNvPr id="34" name="arrow-37"/>
          <p:cNvSpPr/>
          <p:nvPr/>
        </p:nvSpPr>
        <p:spPr>
          <a:xfrm>
            <a:off x="8839200" y="3467100"/>
            <a:ext cx="114300" cy="10160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35" name="step-38"/>
          <p:cNvSpPr/>
          <p:nvPr/>
        </p:nvSpPr>
        <p:spPr>
          <a:xfrm>
            <a:off x="6426200" y="3581400"/>
            <a:ext cx="4940300" cy="317500"/>
          </a:xfrm>
          <a:prstGeom prst="roundRect">
            <a:avLst>
              <a:gd name="adj" fmla="val 17280"/>
            </a:avLst>
          </a:prstGeom>
          <a:solidFill>
            <a:schemeClr val="bg1"/>
          </a:solidFill>
          <a:ln/>
        </p:spPr>
      </p:sp>
      <p:sp>
        <p:nvSpPr>
          <p:cNvPr id="36" name="text-39"/>
          <p:cNvSpPr txBox="1"/>
          <p:nvPr/>
        </p:nvSpPr>
        <p:spPr>
          <a:xfrm>
            <a:off x="6426200" y="3581400"/>
            <a:ext cx="49403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Заказ — остаток резервируется</a:t>
            </a:r>
            <a:endParaRPr lang="en-US" sz="1100" dirty="0"/>
          </a:p>
        </p:txBody>
      </p:sp>
      <p:sp>
        <p:nvSpPr>
          <p:cNvPr id="37" name="arrow-40"/>
          <p:cNvSpPr/>
          <p:nvPr/>
        </p:nvSpPr>
        <p:spPr>
          <a:xfrm>
            <a:off x="8839200" y="3924300"/>
            <a:ext cx="114300" cy="10160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38" name="step-41"/>
          <p:cNvSpPr/>
          <p:nvPr/>
        </p:nvSpPr>
        <p:spPr>
          <a:xfrm>
            <a:off x="6426200" y="4038600"/>
            <a:ext cx="4940300" cy="317500"/>
          </a:xfrm>
          <a:prstGeom prst="roundRect">
            <a:avLst>
              <a:gd name="adj" fmla="val 17280"/>
            </a:avLst>
          </a:prstGeom>
          <a:solidFill>
            <a:schemeClr val="bg1"/>
          </a:solidFill>
          <a:ln/>
        </p:spPr>
      </p:sp>
      <p:sp>
        <p:nvSpPr>
          <p:cNvPr id="39" name="text-42"/>
          <p:cNvSpPr txBox="1"/>
          <p:nvPr/>
        </p:nvSpPr>
        <p:spPr>
          <a:xfrm>
            <a:off x="6426200" y="4038600"/>
            <a:ext cx="49403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Статус заказа в личном кабинете</a:t>
            </a:r>
            <a:endParaRPr lang="en-US" sz="1100" dirty="0"/>
          </a:p>
        </p:txBody>
      </p:sp>
      <p:sp>
        <p:nvSpPr>
          <p:cNvPr id="40" name="text-43"/>
          <p:cNvSpPr txBox="1"/>
          <p:nvPr/>
        </p:nvSpPr>
        <p:spPr>
          <a:xfrm>
            <a:off x="6426200" y="4521200"/>
            <a:ext cx="4940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Администратор, контент-менеджер, кладовщик: товары и остатки, смена статуса заказа</a:t>
            </a:r>
            <a:endParaRPr lang="en-US" sz="1050" dirty="0"/>
          </a:p>
        </p:txBody>
      </p:sp>
      <p:sp>
        <p:nvSpPr>
          <p:cNvPr id="41" name="card-44"/>
          <p:cNvSpPr/>
          <p:nvPr/>
        </p:nvSpPr>
        <p:spPr>
          <a:xfrm>
            <a:off x="594360" y="5232400"/>
            <a:ext cx="10972800" cy="1016000"/>
          </a:xfrm>
          <a:prstGeom prst="roundRect">
            <a:avLst>
              <a:gd name="adj" fmla="val 5400"/>
            </a:avLst>
          </a:prstGeom>
          <a:solidFill>
            <a:schemeClr val="accent1"/>
          </a:solidFill>
          <a:ln/>
        </p:spPr>
      </p:sp>
      <p:sp>
        <p:nvSpPr>
          <p:cNvPr id="42" name="text-45"/>
          <p:cNvSpPr txBox="1"/>
          <p:nvPr/>
        </p:nvSpPr>
        <p:spPr>
          <a:xfrm>
            <a:off x="787400" y="53721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CBD8"/>
                </a:solidFill>
              </a:rPr>
              <a:t>РЕШЕНИЕ</a:t>
            </a:r>
            <a:endParaRPr lang="en-US" sz="900" dirty="0"/>
          </a:p>
        </p:txBody>
      </p:sp>
      <p:sp>
        <p:nvSpPr>
          <p:cNvPr id="43" name="text-46"/>
          <p:cNvSpPr txBox="1"/>
          <p:nvPr/>
        </p:nvSpPr>
        <p:spPr>
          <a:xfrm>
            <a:off x="787400" y="5588000"/>
            <a:ext cx="1059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Веб-система чайного магазина, в которой витрина и учёт работают на одной модели данных: покупатель ищет чай по виду, региону, обработке и вкусу, остаток резервируется в момент оформления заказа, статус заказа покупатель видит сам, а партия прослеживается до года урожая, региона и поставщика.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БЕЗ СИСТЕМЫ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Без системы: сообщения и Excel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Самый простой способ решить задачу без системы — с ним сравнивается всё остальное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2</a:t>
            </a:r>
            <a:endParaRPr lang="en-US" sz="900" dirty="0"/>
          </a:p>
        </p:txBody>
      </p:sp>
      <p:sp>
        <p:nvSpPr>
          <p:cNvPr id="7" name="card-47"/>
          <p:cNvSpPr/>
          <p:nvPr/>
        </p:nvSpPr>
        <p:spPr>
          <a:xfrm>
            <a:off x="594360" y="1778000"/>
            <a:ext cx="1422400" cy="1778000"/>
          </a:xfrm>
          <a:prstGeom prst="roundRect">
            <a:avLst>
              <a:gd name="adj" fmla="val 3857"/>
            </a:avLst>
          </a:prstGeom>
          <a:solidFill>
            <a:schemeClr val="bg2"/>
          </a:solidFill>
          <a:ln/>
        </p:spPr>
      </p:sp>
      <p:sp>
        <p:nvSpPr>
          <p:cNvPr id="8" name="badge-48"/>
          <p:cNvSpPr/>
          <p:nvPr/>
        </p:nvSpPr>
        <p:spPr>
          <a:xfrm>
            <a:off x="746760" y="19304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-49"/>
          <p:cNvSpPr txBox="1"/>
          <p:nvPr/>
        </p:nvSpPr>
        <p:spPr>
          <a:xfrm>
            <a:off x="746760" y="19304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-50"/>
          <p:cNvSpPr txBox="1"/>
          <p:nvPr/>
        </p:nvSpPr>
        <p:spPr>
          <a:xfrm>
            <a:off x="746760" y="2362200"/>
            <a:ext cx="114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Ответить покупателю, уточнить, какой чай нужен</a:t>
            </a:r>
            <a:endParaRPr lang="en-US" sz="1150" dirty="0"/>
          </a:p>
        </p:txBody>
      </p:sp>
      <p:sp>
        <p:nvSpPr>
          <p:cNvPr id="11" name="card-51"/>
          <p:cNvSpPr/>
          <p:nvPr/>
        </p:nvSpPr>
        <p:spPr>
          <a:xfrm>
            <a:off x="2186093" y="1778000"/>
            <a:ext cx="1422400" cy="1778000"/>
          </a:xfrm>
          <a:prstGeom prst="roundRect">
            <a:avLst>
              <a:gd name="adj" fmla="val 3857"/>
            </a:avLst>
          </a:prstGeom>
          <a:solidFill>
            <a:schemeClr val="bg2"/>
          </a:solidFill>
          <a:ln/>
        </p:spPr>
      </p:sp>
      <p:sp>
        <p:nvSpPr>
          <p:cNvPr id="12" name="badge-52"/>
          <p:cNvSpPr/>
          <p:nvPr/>
        </p:nvSpPr>
        <p:spPr>
          <a:xfrm>
            <a:off x="2338493" y="19304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-53"/>
          <p:cNvSpPr txBox="1"/>
          <p:nvPr/>
        </p:nvSpPr>
        <p:spPr>
          <a:xfrm>
            <a:off x="2338493" y="19304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-54"/>
          <p:cNvSpPr txBox="1"/>
          <p:nvPr/>
        </p:nvSpPr>
        <p:spPr>
          <a:xfrm>
            <a:off x="2338493" y="2362200"/>
            <a:ext cx="114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Проверить остаток в Excel</a:t>
            </a:r>
            <a:endParaRPr lang="en-US" sz="1150" dirty="0"/>
          </a:p>
        </p:txBody>
      </p:sp>
      <p:sp>
        <p:nvSpPr>
          <p:cNvPr id="15" name="card-55"/>
          <p:cNvSpPr/>
          <p:nvPr/>
        </p:nvSpPr>
        <p:spPr>
          <a:xfrm>
            <a:off x="3777827" y="1778000"/>
            <a:ext cx="1422400" cy="1778000"/>
          </a:xfrm>
          <a:prstGeom prst="roundRect">
            <a:avLst>
              <a:gd name="adj" fmla="val 3857"/>
            </a:avLst>
          </a:prstGeom>
          <a:solidFill>
            <a:schemeClr val="bg2"/>
          </a:solidFill>
          <a:ln/>
        </p:spPr>
      </p:sp>
      <p:sp>
        <p:nvSpPr>
          <p:cNvPr id="16" name="badge-56"/>
          <p:cNvSpPr/>
          <p:nvPr/>
        </p:nvSpPr>
        <p:spPr>
          <a:xfrm>
            <a:off x="3930227" y="19304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-57"/>
          <p:cNvSpPr txBox="1"/>
          <p:nvPr/>
        </p:nvSpPr>
        <p:spPr>
          <a:xfrm>
            <a:off x="3930227" y="19304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-58"/>
          <p:cNvSpPr txBox="1"/>
          <p:nvPr/>
        </p:nvSpPr>
        <p:spPr>
          <a:xfrm>
            <a:off x="3930227" y="2362200"/>
            <a:ext cx="114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Отправить реквизиты или ссылку на оплату</a:t>
            </a:r>
            <a:endParaRPr lang="en-US" sz="1150" dirty="0"/>
          </a:p>
        </p:txBody>
      </p:sp>
      <p:sp>
        <p:nvSpPr>
          <p:cNvPr id="19" name="card-59"/>
          <p:cNvSpPr/>
          <p:nvPr/>
        </p:nvSpPr>
        <p:spPr>
          <a:xfrm>
            <a:off x="5369560" y="1778000"/>
            <a:ext cx="1422400" cy="1778000"/>
          </a:xfrm>
          <a:prstGeom prst="roundRect">
            <a:avLst>
              <a:gd name="adj" fmla="val 3857"/>
            </a:avLst>
          </a:prstGeom>
          <a:solidFill>
            <a:schemeClr val="bg2"/>
          </a:solidFill>
          <a:ln/>
        </p:spPr>
      </p:sp>
      <p:sp>
        <p:nvSpPr>
          <p:cNvPr id="20" name="badge-60"/>
          <p:cNvSpPr/>
          <p:nvPr/>
        </p:nvSpPr>
        <p:spPr>
          <a:xfrm>
            <a:off x="5521960" y="19304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-61"/>
          <p:cNvSpPr txBox="1"/>
          <p:nvPr/>
        </p:nvSpPr>
        <p:spPr>
          <a:xfrm>
            <a:off x="5521960" y="19304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-62"/>
          <p:cNvSpPr txBox="1"/>
          <p:nvPr/>
        </p:nvSpPr>
        <p:spPr>
          <a:xfrm>
            <a:off x="5521960" y="2362200"/>
            <a:ext cx="114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Проверить, что оплата пришла</a:t>
            </a:r>
            <a:endParaRPr lang="en-US" sz="1150" dirty="0"/>
          </a:p>
        </p:txBody>
      </p:sp>
      <p:sp>
        <p:nvSpPr>
          <p:cNvPr id="23" name="card-63"/>
          <p:cNvSpPr/>
          <p:nvPr/>
        </p:nvSpPr>
        <p:spPr>
          <a:xfrm>
            <a:off x="6961293" y="1778000"/>
            <a:ext cx="1422400" cy="1778000"/>
          </a:xfrm>
          <a:prstGeom prst="roundRect">
            <a:avLst>
              <a:gd name="adj" fmla="val 3857"/>
            </a:avLst>
          </a:prstGeom>
          <a:solidFill>
            <a:schemeClr val="bg2"/>
          </a:solidFill>
          <a:ln/>
        </p:spPr>
      </p:sp>
      <p:sp>
        <p:nvSpPr>
          <p:cNvPr id="24" name="badge-64"/>
          <p:cNvSpPr/>
          <p:nvPr/>
        </p:nvSpPr>
        <p:spPr>
          <a:xfrm>
            <a:off x="7113693" y="19304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-65"/>
          <p:cNvSpPr txBox="1"/>
          <p:nvPr/>
        </p:nvSpPr>
        <p:spPr>
          <a:xfrm>
            <a:off x="7113693" y="19304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-66"/>
          <p:cNvSpPr txBox="1"/>
          <p:nvPr/>
        </p:nvSpPr>
        <p:spPr>
          <a:xfrm>
            <a:off x="7113693" y="2362200"/>
            <a:ext cx="114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Списать остаток в Excel</a:t>
            </a:r>
            <a:endParaRPr lang="en-US" sz="1150" dirty="0"/>
          </a:p>
        </p:txBody>
      </p:sp>
      <p:sp>
        <p:nvSpPr>
          <p:cNvPr id="27" name="card-67"/>
          <p:cNvSpPr/>
          <p:nvPr/>
        </p:nvSpPr>
        <p:spPr>
          <a:xfrm>
            <a:off x="8553027" y="1778000"/>
            <a:ext cx="1422400" cy="1778000"/>
          </a:xfrm>
          <a:prstGeom prst="roundRect">
            <a:avLst>
              <a:gd name="adj" fmla="val 3857"/>
            </a:avLst>
          </a:prstGeom>
          <a:solidFill>
            <a:schemeClr val="bg2"/>
          </a:solidFill>
          <a:ln/>
        </p:spPr>
      </p:sp>
      <p:sp>
        <p:nvSpPr>
          <p:cNvPr id="28" name="badge-68"/>
          <p:cNvSpPr/>
          <p:nvPr/>
        </p:nvSpPr>
        <p:spPr>
          <a:xfrm>
            <a:off x="8705427" y="19304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-69"/>
          <p:cNvSpPr txBox="1"/>
          <p:nvPr/>
        </p:nvSpPr>
        <p:spPr>
          <a:xfrm>
            <a:off x="8705427" y="19304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30" name="text-70"/>
          <p:cNvSpPr txBox="1"/>
          <p:nvPr/>
        </p:nvSpPr>
        <p:spPr>
          <a:xfrm>
            <a:off x="8705427" y="2362200"/>
            <a:ext cx="114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Оформить отправку</a:t>
            </a:r>
            <a:endParaRPr lang="en-US" sz="1150" dirty="0"/>
          </a:p>
        </p:txBody>
      </p:sp>
      <p:sp>
        <p:nvSpPr>
          <p:cNvPr id="31" name="card-71"/>
          <p:cNvSpPr/>
          <p:nvPr/>
        </p:nvSpPr>
        <p:spPr>
          <a:xfrm>
            <a:off x="10144760" y="1778000"/>
            <a:ext cx="1422400" cy="1778000"/>
          </a:xfrm>
          <a:prstGeom prst="roundRect">
            <a:avLst>
              <a:gd name="adj" fmla="val 3857"/>
            </a:avLst>
          </a:prstGeom>
          <a:solidFill>
            <a:schemeClr val="bg2"/>
          </a:solidFill>
          <a:ln/>
        </p:spPr>
      </p:sp>
      <p:sp>
        <p:nvSpPr>
          <p:cNvPr id="32" name="badge-72"/>
          <p:cNvSpPr/>
          <p:nvPr/>
        </p:nvSpPr>
        <p:spPr>
          <a:xfrm>
            <a:off x="10297160" y="19304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-73"/>
          <p:cNvSpPr txBox="1"/>
          <p:nvPr/>
        </p:nvSpPr>
        <p:spPr>
          <a:xfrm>
            <a:off x="10297160" y="19304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34" name="text-74"/>
          <p:cNvSpPr txBox="1"/>
          <p:nvPr/>
        </p:nvSpPr>
        <p:spPr>
          <a:xfrm>
            <a:off x="10297160" y="2362200"/>
            <a:ext cx="114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Сообщить статус и трек-номер</a:t>
            </a:r>
            <a:endParaRPr lang="en-US" sz="1150" dirty="0"/>
          </a:p>
        </p:txBody>
      </p:sp>
      <p:sp>
        <p:nvSpPr>
          <p:cNvPr id="35" name="card-75"/>
          <p:cNvSpPr/>
          <p:nvPr/>
        </p:nvSpPr>
        <p:spPr>
          <a:xfrm>
            <a:off x="594360" y="3733800"/>
            <a:ext cx="3175000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36" name="text-76"/>
          <p:cNvSpPr txBox="1"/>
          <p:nvPr/>
        </p:nvSpPr>
        <p:spPr>
          <a:xfrm>
            <a:off x="812800" y="3911600"/>
            <a:ext cx="152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7</a:t>
            </a:r>
            <a:endParaRPr lang="en-US" sz="5400" dirty="0"/>
          </a:p>
        </p:txBody>
      </p:sp>
      <p:sp>
        <p:nvSpPr>
          <p:cNvPr id="37" name="text-77"/>
          <p:cNvSpPr txBox="1"/>
          <p:nvPr/>
        </p:nvSpPr>
        <p:spPr>
          <a:xfrm>
            <a:off x="812800" y="47752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ручных операций на один заказ</a:t>
            </a:r>
            <a:endParaRPr lang="en-US" sz="1300" dirty="0"/>
          </a:p>
        </p:txBody>
      </p:sp>
      <p:sp>
        <p:nvSpPr>
          <p:cNvPr id="38" name="text-78"/>
          <p:cNvSpPr txBox="1"/>
          <p:nvPr/>
        </p:nvSpPr>
        <p:spPr>
          <a:xfrm>
            <a:off x="812800" y="5334000"/>
            <a:ext cx="279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по разбору процесса «как есть»; подтвердить прогоном сценария</a:t>
            </a:r>
            <a:endParaRPr lang="en-US" sz="1000" dirty="0"/>
          </a:p>
        </p:txBody>
      </p:sp>
      <p:sp>
        <p:nvSpPr>
          <p:cNvPr id="39" name="card-79"/>
          <p:cNvSpPr/>
          <p:nvPr/>
        </p:nvSpPr>
        <p:spPr>
          <a:xfrm>
            <a:off x="3938270" y="3733800"/>
            <a:ext cx="3729990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0" name="text-80"/>
          <p:cNvSpPr txBox="1"/>
          <p:nvPr/>
        </p:nvSpPr>
        <p:spPr>
          <a:xfrm>
            <a:off x="4165600" y="3937000"/>
            <a:ext cx="327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Хватает, когда</a:t>
            </a:r>
            <a:endParaRPr lang="en-US" sz="1300" dirty="0"/>
          </a:p>
        </p:txBody>
      </p:sp>
      <p:sp>
        <p:nvSpPr>
          <p:cNvPr id="41" name="text-81"/>
          <p:cNvSpPr txBox="1"/>
          <p:nvPr/>
        </p:nvSpPr>
        <p:spPr>
          <a:xfrm>
            <a:off x="4165600" y="4292600"/>
            <a:ext cx="3276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заказов мало, ассортимент узкий; запуск — 0 ₽ и 0 дней</a:t>
            </a:r>
            <a:endParaRPr lang="en-US" sz="1250" dirty="0"/>
          </a:p>
        </p:txBody>
      </p:sp>
      <p:sp>
        <p:nvSpPr>
          <p:cNvPr id="42" name="card-82"/>
          <p:cNvSpPr/>
          <p:nvPr/>
        </p:nvSpPr>
        <p:spPr>
          <a:xfrm>
            <a:off x="7837170" y="3733800"/>
            <a:ext cx="3729990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3" name="text-83"/>
          <p:cNvSpPr txBox="1"/>
          <p:nvPr/>
        </p:nvSpPr>
        <p:spPr>
          <a:xfrm>
            <a:off x="8064500" y="3937000"/>
            <a:ext cx="327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Ломается, когда</a:t>
            </a:r>
            <a:endParaRPr lang="en-US" sz="1300" dirty="0"/>
          </a:p>
        </p:txBody>
      </p:sp>
      <p:sp>
        <p:nvSpPr>
          <p:cNvPr id="44" name="text-84"/>
          <p:cNvSpPr txBox="1"/>
          <p:nvPr/>
        </p:nvSpPr>
        <p:spPr>
          <a:xfrm>
            <a:off x="8064500" y="4292600"/>
            <a:ext cx="3276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двое покупателей берут последнюю пачку — обоим отвечают «есть»; поиск по атрибутам — только вопросом продавцу; история заказа — в переписке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АНАЛОГИ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По баллам сильнее всех 1С-Битрикс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8 вариантов шести типов. Итог — среднее по пяти критериям, у каждого 4 проверяемых пункта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3</a:t>
            </a:r>
            <a:endParaRPr lang="en-US" sz="900" dirty="0"/>
          </a:p>
        </p:txBody>
      </p:sp>
      <p:graphicFrame>
        <p:nvGraphicFramePr>
          <p:cNvPr id="5" name="table-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78000"/>
          <a:ext cx="10972800" cy="914400"/>
        </p:xfrm>
        <a:graphic>
          <a:graphicData uri="http://schemas.openxmlformats.org/drawingml/2006/table">
            <a:tbl>
              <a:tblPr/>
              <a:tblGrid>
                <a:gridCol w="2667000"/>
                <a:gridCol w="2286000"/>
                <a:gridCol w="1016000"/>
                <a:gridCol w="50038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Аналог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Тип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Итог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Главный блокер для чайного магазина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1С-Битрикс: Управление сайтом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Учётная система с витриной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4,7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партии нет; лицензия 47 000 ₽ и разработчик под Битрикс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InSales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SaaS-конструктор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4,0–4,4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партии нет; своя логика — только внешним приложением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1С:УТ + витрина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Учётная система с витриной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4,0–4,2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витрина отдельно; резерв после обмена по расписанию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WooCommerce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Open-source CMS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4,1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оплата, доставка и чеки — только плагинами; партии нет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RetailCRM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CRM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3,7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своей витрины и каталога нет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Shopify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SaaS-конструктор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2,9–3,1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54-ФЗ, хранение ПДн в РФ, «Мир» и СБП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Сообщения + Excel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Ручной процесс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2,2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ручное списание, резерва нет (слайд 2)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Adagio Teas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Магазин-конкурент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закрытая система; пример карточки и фильтра по вкусу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-86"/>
          <p:cNvSpPr txBox="1"/>
          <p:nvPr/>
        </p:nvSpPr>
        <p:spPr>
          <a:xfrm>
            <a:off x="594360" y="56134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Выделены аналоги для сравнения на слайде 5: лучший по баллам и единственный с партией. Пункты, баллы и источники — дополнительный слайд Д1.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ПРОТОКОЛ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Один сценарий, одни данные, 5 повторов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Критерии вытекают из задачи; все способы проходят один и тот же сценарий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4</a:t>
            </a:r>
            <a:endParaRPr lang="en-US" sz="900" dirty="0"/>
          </a:p>
        </p:txBody>
      </p:sp>
      <p:graphicFrame>
        <p:nvGraphicFramePr>
          <p:cNvPr id="6" name="table-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78000"/>
          <a:ext cx="6858000" cy="914400"/>
        </p:xfrm>
        <a:graphic>
          <a:graphicData uri="http://schemas.openxmlformats.org/drawingml/2006/table">
            <a:tbl>
              <a:tblPr/>
              <a:tblGrid>
                <a:gridCol w="2667000"/>
                <a:gridCol w="1193800"/>
                <a:gridCol w="2997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Критерий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Требование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Как измеряется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Атрибуты чая в фильтре: вид, регион, обработка, вкус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F-03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сколько из 4 работает без доработки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Время оформления заказа покупателем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F-07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секундомер; среднее из 5 повторов, мин–макс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Ручные операции администратора на заказ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F-09, F-10, F-11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действия от «заказ пришёл» до «передан в доставку»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Резерв и партия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F-09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да — оба, частично — одно, нет — ничего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Требования РФ: 54-ФЗ, «Мир» и СБП, ПДн в РФ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F-08, N-08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да — все три, частично — часть, нет — ни одного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card-88"/>
          <p:cNvSpPr/>
          <p:nvPr/>
        </p:nvSpPr>
        <p:spPr>
          <a:xfrm>
            <a:off x="7620000" y="1778000"/>
            <a:ext cx="3947160" cy="3667760"/>
          </a:xfrm>
          <a:prstGeom prst="roundRect">
            <a:avLst>
              <a:gd name="adj" fmla="val 1496"/>
            </a:avLst>
          </a:prstGeom>
          <a:solidFill>
            <a:schemeClr val="bg2"/>
          </a:solidFill>
          <a:ln/>
        </p:spPr>
      </p:sp>
      <p:sp>
        <p:nvSpPr>
          <p:cNvPr id="9" name="text-89"/>
          <p:cNvSpPr txBox="1"/>
          <p:nvPr/>
        </p:nvSpPr>
        <p:spPr>
          <a:xfrm>
            <a:off x="7810500" y="1930400"/>
            <a:ext cx="355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ПРОТОКОЛ</a:t>
            </a:r>
            <a:endParaRPr lang="en-US" sz="900" dirty="0"/>
          </a:p>
        </p:txBody>
      </p:sp>
      <p:sp>
        <p:nvSpPr>
          <p:cNvPr id="10" name="text-90"/>
          <p:cNvSpPr txBox="1"/>
          <p:nvPr/>
        </p:nvSpPr>
        <p:spPr>
          <a:xfrm>
            <a:off x="7810500" y="2209800"/>
            <a:ext cx="35687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Сценарий.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Покупатель находит улун (Тайвань, цветочный, 100 г) и оформляет доставку; администратор подтверждает заказ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Данные.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Одни и те же 20 тестовых товаров во всех системах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Роли.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Покупатель и администратор с одинаковыми правами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Повторы.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 засчитываемых прогонов и тренировочный; порядок систем меняется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Пороги.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«Да / частично / нет» записаны до замеров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Не сравниваем: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дизайн, стек, «удобство»</a:t>
            </a:r>
            <a:endParaRPr lang="en-US" sz="1100" dirty="0"/>
          </a:p>
        </p:txBody>
      </p:sp>
      <p:sp>
        <p:nvSpPr>
          <p:cNvPr id="11" name="text-91"/>
          <p:cNvSpPr txBox="1"/>
          <p:nvPr/>
        </p:nvSpPr>
        <p:spPr>
          <a:xfrm>
            <a:off x="594360" y="56388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Аналоги — демоверсия 1С-Битрикс (30 дней) и демо-база 1С:УТ. Если замер невозможен, шаги считаются по документации — это указывается в сноске.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СРАВНЕНИЕ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Своя система совмещает партию и резерв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Задача: покупатель находит чай по атрибутам и оформляет заказ; магазин не продаёт отсутствующее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5</a:t>
            </a:r>
            <a:endParaRPr lang="en-US" sz="900" dirty="0"/>
          </a:p>
        </p:txBody>
      </p:sp>
      <p:graphicFrame>
        <p:nvGraphicFramePr>
          <p:cNvPr id="7" name="table-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78000"/>
          <a:ext cx="109728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1498600"/>
                <a:gridCol w="1498600"/>
                <a:gridCol w="1498600"/>
                <a:gridCol w="1651000"/>
                <a:gridCol w="1651000"/>
                <a:gridCol w="12700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Способ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Атрибуты в фильтре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Оформление заказа, мин*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Ручных операций на заказ*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Резерв и партия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Требования РФ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На уровне лучшего, из 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Своя система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[2 или 4] из 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[замер]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[замер]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[да или частично]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частично: интеграции не завершены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[итог]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4E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1С-Битрикс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 из 4 через свойства**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[замер]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[замер]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частично: партии нет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[итог]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1С:УТ + витрина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зависит от витрины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[замер]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[замер]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частично: резерв после обмена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частично: «Мир» и СБП через витрину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[итог]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Сообщения + Excel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 из 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[замер]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[итог]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legend-93"/>
          <p:cNvSpPr/>
          <p:nvPr/>
        </p:nvSpPr>
        <p:spPr>
          <a:xfrm>
            <a:off x="594360" y="4445000"/>
            <a:ext cx="139700" cy="1397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" name="text-94"/>
          <p:cNvSpPr txBox="1"/>
          <p:nvPr/>
        </p:nvSpPr>
        <p:spPr>
          <a:xfrm>
            <a:off x="797560" y="4419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да</a:t>
            </a:r>
            <a:endParaRPr lang="en-US" sz="950" dirty="0"/>
          </a:p>
        </p:txBody>
      </p:sp>
      <p:sp>
        <p:nvSpPr>
          <p:cNvPr id="10" name="legend-95"/>
          <p:cNvSpPr/>
          <p:nvPr/>
        </p:nvSpPr>
        <p:spPr>
          <a:xfrm>
            <a:off x="1635760" y="4445000"/>
            <a:ext cx="139700" cy="1397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text-96"/>
          <p:cNvSpPr txBox="1"/>
          <p:nvPr/>
        </p:nvSpPr>
        <p:spPr>
          <a:xfrm>
            <a:off x="1838960" y="4419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частично</a:t>
            </a:r>
            <a:endParaRPr lang="en-US" sz="950" dirty="0"/>
          </a:p>
        </p:txBody>
      </p:sp>
      <p:sp>
        <p:nvSpPr>
          <p:cNvPr id="12" name="legend-97"/>
          <p:cNvSpPr/>
          <p:nvPr/>
        </p:nvSpPr>
        <p:spPr>
          <a:xfrm>
            <a:off x="2677160" y="4445000"/>
            <a:ext cx="139700" cy="1397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" name="text-98"/>
          <p:cNvSpPr txBox="1"/>
          <p:nvPr/>
        </p:nvSpPr>
        <p:spPr>
          <a:xfrm>
            <a:off x="2880360" y="4419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нет</a:t>
            </a:r>
            <a:endParaRPr lang="en-US" sz="950" dirty="0"/>
          </a:p>
        </p:txBody>
      </p:sp>
      <p:sp>
        <p:nvSpPr>
          <p:cNvPr id="14" name="text-99"/>
          <p:cNvSpPr txBox="1"/>
          <p:nvPr/>
        </p:nvSpPr>
        <p:spPr>
          <a:xfrm>
            <a:off x="3810000" y="4419600"/>
            <a:ext cx="77571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* Среднее из 5 повторов сценария (слайд 4). ** Сверить в демоверсии. [ ] — данные после замеров.</a:t>
            </a:r>
            <a:endParaRPr lang="en-US" sz="950" dirty="0"/>
          </a:p>
        </p:txBody>
      </p:sp>
      <p:sp>
        <p:nvSpPr>
          <p:cNvPr id="15" name="card-100"/>
          <p:cNvSpPr/>
          <p:nvPr/>
        </p:nvSpPr>
        <p:spPr>
          <a:xfrm>
            <a:off x="594360" y="4775200"/>
            <a:ext cx="5397500" cy="1270000"/>
          </a:xfrm>
          <a:prstGeom prst="roundRect">
            <a:avLst>
              <a:gd name="adj" fmla="val 4320"/>
            </a:avLst>
          </a:prstGeom>
          <a:solidFill>
            <a:schemeClr val="accent1"/>
          </a:solidFill>
          <a:ln/>
        </p:spPr>
      </p:sp>
      <p:sp>
        <p:nvSpPr>
          <p:cNvPr id="16" name="text-101"/>
          <p:cNvSpPr txBox="1"/>
          <p:nvPr/>
        </p:nvSpPr>
        <p:spPr>
          <a:xfrm>
            <a:off x="787400" y="49276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CBD8"/>
                </a:solidFill>
              </a:rPr>
              <a:t>ВЫВОД</a:t>
            </a:r>
            <a:endParaRPr lang="en-US" sz="900" dirty="0"/>
          </a:p>
        </p:txBody>
      </p:sp>
      <p:sp>
        <p:nvSpPr>
          <p:cNvPr id="17" name="text-102"/>
          <p:cNvSpPr txBox="1"/>
          <p:nvPr/>
        </p:nvSpPr>
        <p:spPr>
          <a:xfrm>
            <a:off x="787400" y="5156200"/>
            <a:ext cx="5016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Только в своей системе поиск по атрибутам чая, резерв при оформлении и партия работают на одной модели данных. Ручных операций — [N] на заказ против 7 без системы.</a:t>
            </a:r>
            <a:endParaRPr lang="en-US" sz="1100" dirty="0"/>
          </a:p>
        </p:txBody>
      </p:sp>
      <p:sp>
        <p:nvSpPr>
          <p:cNvPr id="18" name="card-103"/>
          <p:cNvSpPr/>
          <p:nvPr/>
        </p:nvSpPr>
        <p:spPr>
          <a:xfrm>
            <a:off x="6169660" y="4775200"/>
            <a:ext cx="5397500" cy="1270000"/>
          </a:xfrm>
          <a:prstGeom prst="roundRect">
            <a:avLst>
              <a:gd name="adj" fmla="val 4320"/>
            </a:avLst>
          </a:prstGeom>
          <a:solidFill>
            <a:schemeClr val="bg2"/>
          </a:solidFill>
          <a:ln/>
        </p:spPr>
      </p:sp>
      <p:sp>
        <p:nvSpPr>
          <p:cNvPr id="19" name="text-104"/>
          <p:cNvSpPr txBox="1"/>
          <p:nvPr/>
        </p:nvSpPr>
        <p:spPr>
          <a:xfrm>
            <a:off x="6362700" y="49276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ОГРАНИЧЕНИЕ</a:t>
            </a:r>
            <a:endParaRPr lang="en-US" sz="900" dirty="0"/>
          </a:p>
        </p:txBody>
      </p:sp>
      <p:sp>
        <p:nvSpPr>
          <p:cNvPr id="20" name="text-105"/>
          <p:cNvSpPr txBox="1"/>
          <p:nvPr/>
        </p:nvSpPr>
        <p:spPr>
          <a:xfrm>
            <a:off x="6362700" y="5156200"/>
            <a:ext cx="5016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Требования РФ (54-ФЗ, «Мир», СБП) готовые решения закрывают из коробки. В прототипе оплата и доставка подключены через адаптеры частично.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СИЛЬНЫЕ АНАЛОГИ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Где аналоги сильнее и почему их не берём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Сильные стороны аналогов называю сам — до вопросов комиссии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6</a:t>
            </a:r>
            <a:endParaRPr lang="en-US" sz="900" dirty="0"/>
          </a:p>
        </p:txBody>
      </p:sp>
      <p:graphicFrame>
        <p:nvGraphicFramePr>
          <p:cNvPr id="8" name="table-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78000"/>
          <a:ext cx="10972800" cy="914400"/>
        </p:xfrm>
        <a:graphic>
          <a:graphicData uri="http://schemas.openxmlformats.org/drawingml/2006/table">
            <a:tbl>
              <a:tblPr/>
              <a:tblGrid>
                <a:gridCol w="1574800"/>
                <a:gridCol w="3556000"/>
                <a:gridCol w="3429000"/>
                <a:gridCol w="2413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Аналог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В чём сильнее своей системы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Почему не берём как есть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Сознательно не делаем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1С-Битрикс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Из коробки: чеки по 54-ФЗ, резерв, фильтр по свойствам, журнал событий, службы доставки; итог 4,7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Партии как учётной единицы нет; лицензия 47 000 ₽ и 11 750 ₽/год; нужен разработчик под Битрикс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Маркетинг, CRM, конструктор сайта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InSales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Запуск без разработки за 2 295 ₽/мес; оплата и доставка — в настройках; хостинг на платформе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Партии нет; своя логика резерва — только внешним приложением через API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Магазин приложений, шаблоны дизайна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1С:УТ + витрина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Полный товарный учёт, партии и серии*, бухгалтерия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Витрина — отдельный продукт; обмен по расписанию, поэтому нет резерва в момент заказа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Бухучёт и фискализация остаются в 1С и ОФД; обмен CommerceML 2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Сообщения + Excel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 ₽ и 0 дней на запуск; при малом потоке заказов быстрее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Ручное списание, резерва нет, история в переписке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-107"/>
          <p:cNvSpPr txBox="1"/>
          <p:nvPr/>
        </p:nvSpPr>
        <p:spPr>
          <a:xfrm>
            <a:off x="594360" y="49276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* Сверить в демо-базе 1С:УТ</a:t>
            </a:r>
            <a:endParaRPr lang="en-US" sz="950" dirty="0"/>
          </a:p>
        </p:txBody>
      </p:sp>
      <p:sp>
        <p:nvSpPr>
          <p:cNvPr id="9" name="card-108"/>
          <p:cNvSpPr/>
          <p:nvPr/>
        </p:nvSpPr>
        <p:spPr>
          <a:xfrm>
            <a:off x="594360" y="5181600"/>
            <a:ext cx="10972800" cy="889000"/>
          </a:xfrm>
          <a:prstGeom prst="roundRect">
            <a:avLst>
              <a:gd name="adj" fmla="val 6171"/>
            </a:avLst>
          </a:prstGeom>
          <a:solidFill>
            <a:schemeClr val="accent1"/>
          </a:solidFill>
          <a:ln/>
        </p:spPr>
      </p:sp>
      <p:sp>
        <p:nvSpPr>
          <p:cNvPr id="10" name="text-109"/>
          <p:cNvSpPr txBox="1"/>
          <p:nvPr/>
        </p:nvSpPr>
        <p:spPr>
          <a:xfrm>
            <a:off x="787400" y="5334000"/>
            <a:ext cx="10591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Готовые решения закрывают витрину, оплату и чеки. Но ни одно не совмещает партию чая как учётную единицу с резервом в момент заказа. Поэтому разработана специализированная система, а оплату, доставку и фискализацию она получает от внешних систем через адаптеры.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НАДЁЖНОСТЬ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Не только успешный сценарий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Сравнение с работой без системы; платформы в негативных сценариях не проверялись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7</a:t>
            </a:r>
            <a:endParaRPr lang="en-US" sz="900" dirty="0"/>
          </a:p>
        </p:txBody>
      </p:sp>
      <p:graphicFrame>
        <p:nvGraphicFramePr>
          <p:cNvPr id="9" name="table-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78000"/>
          <a:ext cx="10972800" cy="914400"/>
        </p:xfrm>
        <a:graphic>
          <a:graphicData uri="http://schemas.openxmlformats.org/drawingml/2006/table">
            <a:tbl>
              <a:tblPr/>
              <a:tblGrid>
                <a:gridCol w="2921000"/>
                <a:gridCol w="2489200"/>
                <a:gridCol w="3606800"/>
                <a:gridCol w="1955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Ситуация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Сообщения + Excel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Своя система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Чем подтверждено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Двое покупателей берут последнюю пачку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обоим отвечают «есть», конфликт вручную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резерв в транзакции; второй видит «нет в наличии» (UC-01, п. 3а)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[тест — провести]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Отказ оплаты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продавец выясняет в переписке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заказ остаётся в статусе «Ожидает оплату» (UC-01, п. 5а)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[тест — провести]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Ошибка ввода в карточке товара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ошибка попадает в таблицу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валидация и сообщение об ошибке (UC-02, п. 3а)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[тест — провести]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Пользователь без прав открывает админку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таблицу видит любой со ссылкой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доступ запрещён, RBAC (F-15)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[тест — провести]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Обновление страницы, двойной клик, обрыв связи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заказ не теряется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отчёт, разд. 2.6–2.7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Недоступен платёжный шлюз или служба доставки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заказ сохраняется в статусе «Ожидает оплату»*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[тест — провести]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Нагрузка 100 RPS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1,2 с, 99,8 % успешных запросов (N-01: ≤ 2 с)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Apache Benchmark, отчёт, табл. 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-111"/>
          <p:cNvSpPr txBox="1"/>
          <p:nvPr/>
        </p:nvSpPr>
        <p:spPr>
          <a:xfrm>
            <a:off x="594360" y="5486400"/>
            <a:ext cx="1097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* Проверить при отключённом адаптере. Квадратные скобки — проверки, которые нужно провести до показа.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ОГРАНИЧЕНИЯ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Ограничения и границы применимости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Слабые места называю сам и объясняю, почему они не обесценивают результат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8</a:t>
            </a:r>
            <a:endParaRPr lang="en-US" sz="900" dirty="0"/>
          </a:p>
        </p:txBody>
      </p:sp>
      <p:sp>
        <p:nvSpPr>
          <p:cNvPr id="7" name="card-112"/>
          <p:cNvSpPr/>
          <p:nvPr/>
        </p:nvSpPr>
        <p:spPr>
          <a:xfrm>
            <a:off x="594360" y="1778000"/>
            <a:ext cx="5588000" cy="4267200"/>
          </a:xfrm>
          <a:prstGeom prst="roundRect">
            <a:avLst>
              <a:gd name="adj" fmla="val 1286"/>
            </a:avLst>
          </a:prstGeom>
          <a:solidFill>
            <a:schemeClr val="bg2"/>
          </a:solidFill>
          <a:ln/>
        </p:spPr>
      </p:sp>
      <p:sp>
        <p:nvSpPr>
          <p:cNvPr id="8" name="text-113"/>
          <p:cNvSpPr txBox="1"/>
          <p:nvPr/>
        </p:nvSpPr>
        <p:spPr>
          <a:xfrm>
            <a:off x="787400" y="19304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ОГРАНИЧЕНИЯ</a:t>
            </a:r>
            <a:endParaRPr lang="en-US" sz="900" dirty="0"/>
          </a:p>
        </p:txBody>
      </p:sp>
      <p:sp>
        <p:nvSpPr>
          <p:cNvPr id="9" name="badge-114"/>
          <p:cNvSpPr/>
          <p:nvPr/>
        </p:nvSpPr>
        <p:spPr>
          <a:xfrm>
            <a:off x="787400" y="22860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-115"/>
          <p:cNvSpPr txBox="1"/>
          <p:nvPr/>
        </p:nvSpPr>
        <p:spPr>
          <a:xfrm>
            <a:off x="787400" y="22860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-116"/>
          <p:cNvSpPr txBox="1"/>
          <p:nvPr/>
        </p:nvSpPr>
        <p:spPr>
          <a:xfrm>
            <a:off x="1193800" y="2209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1С-Битрикс — 4,7, прототип — 3,1–3,9: по сумме баллов готовые решения сильнее</a:t>
            </a:r>
            <a:endParaRPr lang="en-US" sz="1100" dirty="0"/>
          </a:p>
        </p:txBody>
      </p:sp>
      <p:sp>
        <p:nvSpPr>
          <p:cNvPr id="12" name="badge-117"/>
          <p:cNvSpPr/>
          <p:nvPr/>
        </p:nvSpPr>
        <p:spPr>
          <a:xfrm>
            <a:off x="787400" y="29210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-118"/>
          <p:cNvSpPr txBox="1"/>
          <p:nvPr/>
        </p:nvSpPr>
        <p:spPr>
          <a:xfrm>
            <a:off x="787400" y="29210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-119"/>
          <p:cNvSpPr txBox="1"/>
          <p:nvPr/>
        </p:nvSpPr>
        <p:spPr>
          <a:xfrm>
            <a:off x="1193800" y="2844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Оплата, доставка и фискализация — через адаптеры, в прототипе частично</a:t>
            </a:r>
            <a:endParaRPr lang="en-US" sz="1100" dirty="0"/>
          </a:p>
        </p:txBody>
      </p:sp>
      <p:sp>
        <p:nvSpPr>
          <p:cNvPr id="15" name="badge-120"/>
          <p:cNvSpPr/>
          <p:nvPr/>
        </p:nvSpPr>
        <p:spPr>
          <a:xfrm>
            <a:off x="787400" y="35560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-121"/>
          <p:cNvSpPr txBox="1"/>
          <p:nvPr/>
        </p:nvSpPr>
        <p:spPr>
          <a:xfrm>
            <a:off x="787400" y="35560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-122"/>
          <p:cNvSpPr txBox="1"/>
          <p:nvPr/>
        </p:nvSpPr>
        <p:spPr>
          <a:xfrm>
            <a:off x="1193800" y="3479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Выше 100 RPS отклик растёт: 150 RPS — 1,9 с, 200 RPS — 2,8 с. План: Redis-кеш, CDN, ASGI</a:t>
            </a:r>
            <a:endParaRPr lang="en-US" sz="1100" dirty="0"/>
          </a:p>
        </p:txBody>
      </p:sp>
      <p:sp>
        <p:nvSpPr>
          <p:cNvPr id="18" name="badge-123"/>
          <p:cNvSpPr/>
          <p:nvPr/>
        </p:nvSpPr>
        <p:spPr>
          <a:xfrm>
            <a:off x="787400" y="41910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-124"/>
          <p:cNvSpPr txBox="1"/>
          <p:nvPr/>
        </p:nvSpPr>
        <p:spPr>
          <a:xfrm>
            <a:off x="787400" y="41910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-125"/>
          <p:cNvSpPr txBox="1"/>
          <p:nvPr/>
        </p:nvSpPr>
        <p:spPr>
          <a:xfrm>
            <a:off x="1193800" y="4114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Production-стенда нет; замеры — на локальном сервере (4 ядра, 8 ГБ, Docker)</a:t>
            </a:r>
            <a:endParaRPr lang="en-US" sz="1100" dirty="0"/>
          </a:p>
        </p:txBody>
      </p:sp>
      <p:sp>
        <p:nvSpPr>
          <p:cNvPr id="21" name="badge-126"/>
          <p:cNvSpPr/>
          <p:nvPr/>
        </p:nvSpPr>
        <p:spPr>
          <a:xfrm>
            <a:off x="787400" y="48260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-127"/>
          <p:cNvSpPr txBox="1"/>
          <p:nvPr/>
        </p:nvSpPr>
        <p:spPr>
          <a:xfrm>
            <a:off x="787400" y="48260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-128"/>
          <p:cNvSpPr txBox="1"/>
          <p:nvPr/>
        </p:nvSpPr>
        <p:spPr>
          <a:xfrm>
            <a:off x="1193800" y="4749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Аналоги сравнивались на демоверсиях; редакции и версии — на дату замера</a:t>
            </a:r>
            <a:endParaRPr lang="en-US" sz="1100" dirty="0"/>
          </a:p>
        </p:txBody>
      </p:sp>
      <p:sp>
        <p:nvSpPr>
          <p:cNvPr id="24" name="badge-129"/>
          <p:cNvSpPr/>
          <p:nvPr/>
        </p:nvSpPr>
        <p:spPr>
          <a:xfrm>
            <a:off x="787400" y="5461000"/>
            <a:ext cx="279400" cy="279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-130"/>
          <p:cNvSpPr txBox="1"/>
          <p:nvPr/>
        </p:nvSpPr>
        <p:spPr>
          <a:xfrm>
            <a:off x="787400" y="54610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-131"/>
          <p:cNvSpPr txBox="1"/>
          <p:nvPr/>
        </p:nvSpPr>
        <p:spPr>
          <a:xfrm>
            <a:off x="1193800" y="5384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Свою систему нужно разрабатывать и сопровождать; стоимость — в гл. 3 ВКР</a:t>
            </a:r>
            <a:endParaRPr lang="en-US" sz="1100" dirty="0"/>
          </a:p>
        </p:txBody>
      </p:sp>
      <p:graphicFrame>
        <p:nvGraphicFramePr>
          <p:cNvPr id="10" name="table-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7620" y="1778000"/>
          <a:ext cx="520954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7805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Ситуация магазина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Разумный выбор</a:t>
                      </a:r>
                      <a:endParaRPr lang="en-US" sz="11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Мало заказов, узкий ассортимент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Сообщения + Excel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Нужен быстрый запуск без разработки, партии не важны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InSales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Нужны чеки и резерв из коробки, партии не важны, есть бюджет на лицензию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1С-Битрикс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Уже есть 1С и розничная точка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1С:УТ + витрина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Партии, поиск по атрибутам и резерв в одной модели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Своя система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8" name="text-133"/>
          <p:cNvSpPr txBox="1"/>
          <p:nvPr/>
        </p:nvSpPr>
        <p:spPr>
          <a:xfrm>
            <a:off x="6357620" y="5232400"/>
            <a:ext cx="52095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Основной сценарий и учётная часть работают. Ограничения касаются интеграций, а их архитектура выносит за адаптеры.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9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ВЫВОД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Разумно для партионного ассортимента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Не «лучше всех», а обоснованный выбор для конкретной задачи и ограничений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9</a:t>
            </a:r>
            <a:endParaRPr lang="en-US" sz="900" dirty="0"/>
          </a:p>
        </p:txBody>
      </p:sp>
      <p:sp>
        <p:nvSpPr>
          <p:cNvPr id="7" name="card-134"/>
          <p:cNvSpPr/>
          <p:nvPr/>
        </p:nvSpPr>
        <p:spPr>
          <a:xfrm>
            <a:off x="594360" y="1778000"/>
            <a:ext cx="10972800" cy="1092200"/>
          </a:xfrm>
          <a:prstGeom prst="roundRect">
            <a:avLst>
              <a:gd name="adj" fmla="val 5023"/>
            </a:avLst>
          </a:prstGeom>
          <a:solidFill>
            <a:schemeClr val="accent1"/>
          </a:solidFill>
          <a:ln/>
        </p:spPr>
      </p:sp>
      <p:sp>
        <p:nvSpPr>
          <p:cNvPr id="8" name="text-135"/>
          <p:cNvSpPr txBox="1"/>
          <p:nvPr/>
        </p:nvSpPr>
        <p:spPr>
          <a:xfrm>
            <a:off x="787400" y="1955800"/>
            <a:ext cx="1059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По сумме функций готовые решения сильнее. Своя система — единственный вариант, где партия, резерв при оформлении и поиск по атрибутам чая работают в одной модели. Это обоснованный выбор для магазина, где партия — основа ассортимента; в других условиях разумнее аналоги (слайд 8).</a:t>
            </a:r>
            <a:endParaRPr lang="en-US" sz="1250" dirty="0"/>
          </a:p>
        </p:txBody>
      </p:sp>
      <p:sp>
        <p:nvSpPr>
          <p:cNvPr id="9" name="text-136"/>
          <p:cNvSpPr txBox="1"/>
          <p:nvPr/>
        </p:nvSpPr>
        <p:spPr>
          <a:xfrm>
            <a:off x="594360" y="30734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ВКЛАД АВТОРА</a:t>
            </a:r>
            <a:endParaRPr lang="en-US" sz="900" dirty="0"/>
          </a:p>
        </p:txBody>
      </p:sp>
      <p:sp>
        <p:nvSpPr>
          <p:cNvPr id="10" name="card-137"/>
          <p:cNvSpPr/>
          <p:nvPr/>
        </p:nvSpPr>
        <p:spPr>
          <a:xfrm>
            <a:off x="594360" y="3327400"/>
            <a:ext cx="3545840" cy="12192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/>
        </p:spPr>
      </p:sp>
      <p:sp>
        <p:nvSpPr>
          <p:cNvPr id="11" name="text-138"/>
          <p:cNvSpPr txBox="1"/>
          <p:nvPr/>
        </p:nvSpPr>
        <p:spPr>
          <a:xfrm>
            <a:off x="797560" y="350520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Анализ</a:t>
            </a:r>
            <a:endParaRPr lang="en-US" sz="1150" dirty="0"/>
          </a:p>
        </p:txBody>
      </p:sp>
      <p:sp>
        <p:nvSpPr>
          <p:cNvPr id="12" name="text-139"/>
          <p:cNvSpPr txBox="1"/>
          <p:nvPr/>
        </p:nvSpPr>
        <p:spPr>
          <a:xfrm>
            <a:off x="797560" y="3784600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Процесс «как есть», 17 функциональных и 13 нефункциональных требований</a:t>
            </a:r>
            <a:endParaRPr lang="en-US" sz="1100" dirty="0"/>
          </a:p>
        </p:txBody>
      </p:sp>
      <p:sp>
        <p:nvSpPr>
          <p:cNvPr id="13" name="card-140"/>
          <p:cNvSpPr/>
          <p:nvPr/>
        </p:nvSpPr>
        <p:spPr>
          <a:xfrm>
            <a:off x="4307840" y="3327400"/>
            <a:ext cx="3545840" cy="12192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/>
        </p:spPr>
      </p:sp>
      <p:sp>
        <p:nvSpPr>
          <p:cNvPr id="14" name="text-141"/>
          <p:cNvSpPr txBox="1"/>
          <p:nvPr/>
        </p:nvSpPr>
        <p:spPr>
          <a:xfrm>
            <a:off x="4511040" y="350520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Модели</a:t>
            </a:r>
            <a:endParaRPr lang="en-US" sz="1150" dirty="0"/>
          </a:p>
        </p:txBody>
      </p:sp>
      <p:sp>
        <p:nvSpPr>
          <p:cNvPr id="15" name="text-142"/>
          <p:cNvSpPr txBox="1"/>
          <p:nvPr/>
        </p:nvSpPr>
        <p:spPr>
          <a:xfrm>
            <a:off x="4511040" y="3784600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IDEF0, варианты использования, состояния заказа, классы, компоненты</a:t>
            </a:r>
            <a:endParaRPr lang="en-US" sz="1100" dirty="0"/>
          </a:p>
        </p:txBody>
      </p:sp>
      <p:sp>
        <p:nvSpPr>
          <p:cNvPr id="16" name="card-143"/>
          <p:cNvSpPr/>
          <p:nvPr/>
        </p:nvSpPr>
        <p:spPr>
          <a:xfrm>
            <a:off x="8021320" y="3327400"/>
            <a:ext cx="3545840" cy="12192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/>
        </p:spPr>
      </p:sp>
      <p:sp>
        <p:nvSpPr>
          <p:cNvPr id="17" name="text-144"/>
          <p:cNvSpPr txBox="1"/>
          <p:nvPr/>
        </p:nvSpPr>
        <p:spPr>
          <a:xfrm>
            <a:off x="8224520" y="350520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Данные</a:t>
            </a:r>
            <a:endParaRPr lang="en-US" sz="1150" dirty="0"/>
          </a:p>
        </p:txBody>
      </p:sp>
      <p:sp>
        <p:nvSpPr>
          <p:cNvPr id="18" name="text-145"/>
          <p:cNvSpPr txBox="1"/>
          <p:nvPr/>
        </p:nvSpPr>
        <p:spPr>
          <a:xfrm>
            <a:off x="8224520" y="3784600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Схема PostgreSQL в 3НФ: каталог, заказы, резерв, роли</a:t>
            </a:r>
            <a:endParaRPr lang="en-US" sz="1100" dirty="0"/>
          </a:p>
        </p:txBody>
      </p:sp>
      <p:sp>
        <p:nvSpPr>
          <p:cNvPr id="19" name="card-146"/>
          <p:cNvSpPr/>
          <p:nvPr/>
        </p:nvSpPr>
        <p:spPr>
          <a:xfrm>
            <a:off x="594360" y="4686300"/>
            <a:ext cx="3545840" cy="12192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/>
        </p:spPr>
      </p:sp>
      <p:sp>
        <p:nvSpPr>
          <p:cNvPr id="20" name="text-147"/>
          <p:cNvSpPr txBox="1"/>
          <p:nvPr/>
        </p:nvSpPr>
        <p:spPr>
          <a:xfrm>
            <a:off x="797560" y="486410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Прототип</a:t>
            </a:r>
            <a:endParaRPr lang="en-US" sz="1150" dirty="0"/>
          </a:p>
        </p:txBody>
      </p:sp>
      <p:sp>
        <p:nvSpPr>
          <p:cNvPr id="21" name="text-148"/>
          <p:cNvSpPr txBox="1"/>
          <p:nvPr/>
        </p:nvSpPr>
        <p:spPr>
          <a:xfrm>
            <a:off x="797560" y="5143500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Flask и Vue.js: фильтры, заказ с резервом, RBAC, админ-панель</a:t>
            </a:r>
            <a:endParaRPr lang="en-US" sz="1100" dirty="0"/>
          </a:p>
        </p:txBody>
      </p:sp>
      <p:sp>
        <p:nvSpPr>
          <p:cNvPr id="22" name="card-149"/>
          <p:cNvSpPr/>
          <p:nvPr/>
        </p:nvSpPr>
        <p:spPr>
          <a:xfrm>
            <a:off x="4307840" y="4686300"/>
            <a:ext cx="3545840" cy="12192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/>
        </p:spPr>
      </p:sp>
      <p:sp>
        <p:nvSpPr>
          <p:cNvPr id="23" name="text-150"/>
          <p:cNvSpPr txBox="1"/>
          <p:nvPr/>
        </p:nvSpPr>
        <p:spPr>
          <a:xfrm>
            <a:off x="4511040" y="486410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Сравнение</a:t>
            </a:r>
            <a:endParaRPr lang="en-US" sz="1150" dirty="0"/>
          </a:p>
        </p:txBody>
      </p:sp>
      <p:sp>
        <p:nvSpPr>
          <p:cNvPr id="24" name="text-151"/>
          <p:cNvSpPr txBox="1"/>
          <p:nvPr/>
        </p:nvSpPr>
        <p:spPr>
          <a:xfrm>
            <a:off x="4511040" y="5143500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7 аналогов по 20 проверяемым пунктам с источниками, протокол замеров</a:t>
            </a:r>
            <a:endParaRPr lang="en-US" sz="1100" dirty="0"/>
          </a:p>
        </p:txBody>
      </p:sp>
      <p:sp>
        <p:nvSpPr>
          <p:cNvPr id="25" name="card-152"/>
          <p:cNvSpPr/>
          <p:nvPr/>
        </p:nvSpPr>
        <p:spPr>
          <a:xfrm>
            <a:off x="8021320" y="4686300"/>
            <a:ext cx="3545840" cy="1219200"/>
          </a:xfrm>
          <a:prstGeom prst="roundRect">
            <a:avLst>
              <a:gd name="adj" fmla="val 4500"/>
            </a:avLst>
          </a:prstGeom>
          <a:solidFill>
            <a:schemeClr val="bg2"/>
          </a:solidFill>
          <a:ln/>
        </p:spPr>
      </p:sp>
      <p:sp>
        <p:nvSpPr>
          <p:cNvPr id="26" name="text-153"/>
          <p:cNvSpPr txBox="1"/>
          <p:nvPr/>
        </p:nvSpPr>
        <p:spPr>
          <a:xfrm>
            <a:off x="8224520" y="486410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Тестирование</a:t>
            </a:r>
            <a:endParaRPr lang="en-US" sz="1150" dirty="0"/>
          </a:p>
        </p:txBody>
      </p:sp>
      <p:sp>
        <p:nvSpPr>
          <p:cNvPr id="27" name="text-154"/>
          <p:cNvSpPr txBox="1"/>
          <p:nvPr/>
        </p:nvSpPr>
        <p:spPr>
          <a:xfrm>
            <a:off x="8224520" y="5143500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Пользовательское и нагрузочное: 1,2 с при 100 RPS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Д1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ДОПОЛНИТЕЛЬНЫЙ СЛАЙД · БАЛЛЫ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Баллы аналогов по рубрике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Балл критерия = 1 + сумма по 4 пунктам: 1 — есть, 0,5 — частично или плагином, 0 — нет. Итог — среднее пяти критериев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Д1</a:t>
            </a:r>
            <a:endParaRPr lang="en-US" sz="900" dirty="0"/>
          </a:p>
        </p:txBody>
      </p:sp>
      <p:graphicFrame>
        <p:nvGraphicFramePr>
          <p:cNvPr id="12" name="table-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78000"/>
          <a:ext cx="10972800" cy="914400"/>
        </p:xfrm>
        <a:graphic>
          <a:graphicData uri="http://schemas.openxmlformats.org/drawingml/2006/table">
            <a:tbl>
              <a:tblPr/>
              <a:tblGrid>
                <a:gridCol w="1752600"/>
                <a:gridCol w="1016000"/>
                <a:gridCol w="1016000"/>
                <a:gridCol w="1041400"/>
                <a:gridCol w="1244600"/>
                <a:gridCol w="1524000"/>
                <a:gridCol w="838200"/>
                <a:gridCol w="2540000"/>
              </a:tblGrid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Способ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Требования РФ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Учёт и атрибуты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Оплата и доставка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Расширяемость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Администрирование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Итог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Стоимость в год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1С-Битрикс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4,7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47 000 ₽, далее 11 750 ₽/год; хостинг, разработка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InSales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3,5–4,5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4–5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4,0–4,4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≈ 27 540 ₽ (2 295 ₽/мес)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1С:УТ + витрина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4–5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4,0–4,2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[уточнить]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WooCommerce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4,1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ядро 0 ₽; хостинг, плагины — [оценить]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RetailCRM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3,7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≈ 112 320 ₽ (3 пользователя)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Прототип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3–4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2,5–3,5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4–5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3–4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3,1–3,9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[гл. 3 ВКР]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Shopify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3,5–4,5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2,9–3,1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от $39/мес [сверить]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Сообщения + Excel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1,5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2,2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≈ 0 ₽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-156"/>
          <p:cNvSpPr txBox="1"/>
          <p:nvPr/>
        </p:nvSpPr>
        <p:spPr>
          <a:xfrm>
            <a:off x="594360" y="5334000"/>
            <a:ext cx="10972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Пример: InSales, расширяемость = 1 + (1 + 1 + 0,5 + 0,5) = 4 — есть API и вебхуки; своя логика только внешним приложением; перенести магазин на свой сервер нельзя. Диапазон — где пункт не удалось проверить. Цены на 23.10.2026; источник по каждому пункту — в таблице доказательств.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Д2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ДОПОЛНИТЕЛЬНЫЙ СЛАЙД · НАГРУЗКА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Нагрузочное тестирование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Apache Benchmark, отчёт, табл. 5: отклик и доля успешных запросов при росте нагрузки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Д2</a:t>
            </a:r>
            <a:endParaRPr lang="en-US" sz="900" dirty="0"/>
          </a:p>
        </p:txBody>
      </p:sp>
      <p:sp>
        <p:nvSpPr>
          <p:cNvPr id="7" name="card-157"/>
          <p:cNvSpPr/>
          <p:nvPr/>
        </p:nvSpPr>
        <p:spPr>
          <a:xfrm>
            <a:off x="594360" y="1778000"/>
            <a:ext cx="261747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8" name="text-158"/>
          <p:cNvSpPr txBox="1"/>
          <p:nvPr/>
        </p:nvSpPr>
        <p:spPr>
          <a:xfrm>
            <a:off x="797560" y="1879600"/>
            <a:ext cx="221107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1,2 с</a:t>
            </a:r>
            <a:endParaRPr lang="en-US" sz="2400" dirty="0"/>
          </a:p>
        </p:txBody>
      </p:sp>
      <p:sp>
        <p:nvSpPr>
          <p:cNvPr id="9" name="text-159"/>
          <p:cNvSpPr txBox="1"/>
          <p:nvPr/>
        </p:nvSpPr>
        <p:spPr>
          <a:xfrm>
            <a:off x="797560" y="2311400"/>
            <a:ext cx="22110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отклик при 100 RPS, норма N-01 ≤ 2 с</a:t>
            </a:r>
            <a:endParaRPr lang="en-US" sz="1000" dirty="0"/>
          </a:p>
        </p:txBody>
      </p:sp>
      <p:sp>
        <p:nvSpPr>
          <p:cNvPr id="10" name="card-160"/>
          <p:cNvSpPr/>
          <p:nvPr/>
        </p:nvSpPr>
        <p:spPr>
          <a:xfrm>
            <a:off x="3379470" y="1778000"/>
            <a:ext cx="261747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1" name="text-161"/>
          <p:cNvSpPr txBox="1"/>
          <p:nvPr/>
        </p:nvSpPr>
        <p:spPr>
          <a:xfrm>
            <a:off x="3582670" y="1879600"/>
            <a:ext cx="221107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99,8 %</a:t>
            </a:r>
            <a:endParaRPr lang="en-US" sz="2400" dirty="0"/>
          </a:p>
        </p:txBody>
      </p:sp>
      <p:sp>
        <p:nvSpPr>
          <p:cNvPr id="12" name="text-162"/>
          <p:cNvSpPr txBox="1"/>
          <p:nvPr/>
        </p:nvSpPr>
        <p:spPr>
          <a:xfrm>
            <a:off x="3582670" y="2311400"/>
            <a:ext cx="22110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успешных запросов при 100 RPS</a:t>
            </a:r>
            <a:endParaRPr lang="en-US" sz="1000" dirty="0"/>
          </a:p>
        </p:txBody>
      </p:sp>
      <p:sp>
        <p:nvSpPr>
          <p:cNvPr id="13" name="card-163"/>
          <p:cNvSpPr/>
          <p:nvPr/>
        </p:nvSpPr>
        <p:spPr>
          <a:xfrm>
            <a:off x="6164580" y="1778000"/>
            <a:ext cx="261747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4" name="text-164"/>
          <p:cNvSpPr txBox="1"/>
          <p:nvPr/>
        </p:nvSpPr>
        <p:spPr>
          <a:xfrm>
            <a:off x="6367780" y="1879600"/>
            <a:ext cx="221107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2,8 с</a:t>
            </a:r>
            <a:endParaRPr lang="en-US" sz="2400" dirty="0"/>
          </a:p>
        </p:txBody>
      </p:sp>
      <p:sp>
        <p:nvSpPr>
          <p:cNvPr id="15" name="text-165"/>
          <p:cNvSpPr txBox="1"/>
          <p:nvPr/>
        </p:nvSpPr>
        <p:spPr>
          <a:xfrm>
            <a:off x="6367780" y="2311400"/>
            <a:ext cx="22110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отклик при 200 RPS — выше нормы</a:t>
            </a:r>
            <a:endParaRPr lang="en-US" sz="1000" dirty="0"/>
          </a:p>
        </p:txBody>
      </p:sp>
      <p:sp>
        <p:nvSpPr>
          <p:cNvPr id="16" name="card-166"/>
          <p:cNvSpPr/>
          <p:nvPr/>
        </p:nvSpPr>
        <p:spPr>
          <a:xfrm>
            <a:off x="8949690" y="1778000"/>
            <a:ext cx="261747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7" name="text-167"/>
          <p:cNvSpPr txBox="1"/>
          <p:nvPr/>
        </p:nvSpPr>
        <p:spPr>
          <a:xfrm>
            <a:off x="9152890" y="1879600"/>
            <a:ext cx="221107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94,2 %</a:t>
            </a:r>
            <a:endParaRPr lang="en-US" sz="2400" dirty="0"/>
          </a:p>
        </p:txBody>
      </p:sp>
      <p:sp>
        <p:nvSpPr>
          <p:cNvPr id="18" name="text-168"/>
          <p:cNvSpPr txBox="1"/>
          <p:nvPr/>
        </p:nvSpPr>
        <p:spPr>
          <a:xfrm>
            <a:off x="9152890" y="2311400"/>
            <a:ext cx="22110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успешных запросов при 200 RPS</a:t>
            </a:r>
            <a:endParaRPr lang="en-US" sz="1000" dirty="0"/>
          </a:p>
        </p:txBody>
      </p:sp>
      <p:graphicFrame>
        <p:nvGraphicFramePr>
          <p:cNvPr id="19" name="load-chart" descr=""/>
          <p:cNvGraphicFramePr/>
          <p:nvPr/>
        </p:nvGraphicFramePr>
        <p:xfrm>
          <a:off x="594360" y="2870200"/>
          <a:ext cx="7112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card-169"/>
          <p:cNvSpPr/>
          <p:nvPr/>
        </p:nvSpPr>
        <p:spPr>
          <a:xfrm>
            <a:off x="7874000" y="2870200"/>
            <a:ext cx="3693160" cy="1574800"/>
          </a:xfrm>
          <a:prstGeom prst="roundRect">
            <a:avLst>
              <a:gd name="adj" fmla="val 3484"/>
            </a:avLst>
          </a:prstGeom>
          <a:solidFill>
            <a:schemeClr val="accent1"/>
          </a:solidFill>
          <a:ln/>
        </p:spPr>
      </p:sp>
      <p:sp>
        <p:nvSpPr>
          <p:cNvPr id="21" name="text-170"/>
          <p:cNvSpPr txBox="1"/>
          <p:nvPr/>
        </p:nvSpPr>
        <p:spPr>
          <a:xfrm>
            <a:off x="8077200" y="3022600"/>
            <a:ext cx="33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Граница применимости</a:t>
            </a:r>
            <a:endParaRPr lang="en-US" sz="1200" dirty="0"/>
          </a:p>
        </p:txBody>
      </p:sp>
      <p:sp>
        <p:nvSpPr>
          <p:cNvPr id="22" name="text-171"/>
          <p:cNvSpPr txBox="1"/>
          <p:nvPr/>
        </p:nvSpPr>
        <p:spPr>
          <a:xfrm>
            <a:off x="8077200" y="3302000"/>
            <a:ext cx="330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BD8"/>
                </a:solidFill>
              </a:rPr>
              <a:t>До 100 RPS норма выполняется. При 150–200 RPS отклик 1,9–2,8 с: синхронная обработка Flask и WSGI, нет кеша. План: Redis-кеш фильтров, статика на CDN, переход на ASGI.</a:t>
            </a:r>
            <a:endParaRPr lang="en-US" sz="1050" dirty="0"/>
          </a:p>
        </p:txBody>
      </p:sp>
      <p:sp>
        <p:nvSpPr>
          <p:cNvPr id="23" name="card-172"/>
          <p:cNvSpPr/>
          <p:nvPr/>
        </p:nvSpPr>
        <p:spPr>
          <a:xfrm>
            <a:off x="7874000" y="4597400"/>
            <a:ext cx="3693160" cy="1447800"/>
          </a:xfrm>
          <a:prstGeom prst="roundRect">
            <a:avLst>
              <a:gd name="adj" fmla="val 3789"/>
            </a:avLst>
          </a:prstGeom>
          <a:solidFill>
            <a:schemeClr val="bg2"/>
          </a:solidFill>
          <a:ln/>
        </p:spPr>
      </p:sp>
      <p:sp>
        <p:nvSpPr>
          <p:cNvPr id="24" name="text-173"/>
          <p:cNvSpPr txBox="1"/>
          <p:nvPr/>
        </p:nvSpPr>
        <p:spPr>
          <a:xfrm>
            <a:off x="8077200" y="4749800"/>
            <a:ext cx="33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Стенд</a:t>
            </a:r>
            <a:endParaRPr lang="en-US" sz="1200" dirty="0"/>
          </a:p>
        </p:txBody>
      </p:sp>
      <p:sp>
        <p:nvSpPr>
          <p:cNvPr id="25" name="text-174"/>
          <p:cNvSpPr txBox="1"/>
          <p:nvPr/>
        </p:nvSpPr>
        <p:spPr>
          <a:xfrm>
            <a:off x="8077200" y="5029200"/>
            <a:ext cx="33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Локальный сервер: 4 ядра, 8 ГБ RAM; PostgreSQL и Flask в Docker-контейнерах. Production-стенда нет.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Д3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ДОПОЛНИТЕЛЬНЫЙ СЛАЙД · ЗАМЕРЫ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Сырые замеры сценария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Заполнить после замеров: 5 засчитываемых прогонов, тренировочный не учитывается, порядок систем меняется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Д3</a:t>
            </a:r>
            <a:endParaRPr lang="en-US" sz="900" dirty="0"/>
          </a:p>
        </p:txBody>
      </p:sp>
      <p:sp>
        <p:nvSpPr>
          <p:cNvPr id="7" name="text-175"/>
          <p:cNvSpPr txBox="1"/>
          <p:nvPr/>
        </p:nvSpPr>
        <p:spPr>
          <a:xfrm>
            <a:off x="594360" y="1778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ВРЕМЯ ОФОРМЛЕНИЯ ЗАКАЗА ПОКУПАТЕЛЕМ, МИН</a:t>
            </a:r>
            <a:endParaRPr lang="en-US" sz="900" dirty="0"/>
          </a:p>
        </p:txBody>
      </p:sp>
      <p:graphicFrame>
        <p:nvGraphicFramePr>
          <p:cNvPr id="14" name="table-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06600"/>
          <a:ext cx="10972800" cy="914400"/>
        </p:xfrm>
        <a:graphic>
          <a:graphicData uri="http://schemas.openxmlformats.org/drawingml/2006/table">
            <a:tbl>
              <a:tblPr/>
              <a:tblGrid>
                <a:gridCol w="2413000"/>
                <a:gridCol w="1092200"/>
                <a:gridCol w="1092200"/>
                <a:gridCol w="1092200"/>
                <a:gridCol w="1092200"/>
                <a:gridCol w="1092200"/>
                <a:gridCol w="1549400"/>
                <a:gridCol w="154940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Способ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Прогон 1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Прогон 2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Прогон 3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Прогон 4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Прогон 5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Среднее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Мин–макс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Своя система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1С-Битрикс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1С:УТ + витрина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Сообщения + Excel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-177"/>
          <p:cNvSpPr txBox="1"/>
          <p:nvPr/>
        </p:nvSpPr>
        <p:spPr>
          <a:xfrm>
            <a:off x="594360" y="37592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РУЧНЫХ ОПЕРАЦИЙ АДМИНИСТРАТОРА НА ЗАКАЗ</a:t>
            </a:r>
            <a:endParaRPr lang="en-US" sz="900" dirty="0"/>
          </a:p>
        </p:txBody>
      </p:sp>
      <p:graphicFrame>
        <p:nvGraphicFramePr>
          <p:cNvPr id="27" name="table-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987800"/>
          <a:ext cx="10972800" cy="914400"/>
        </p:xfrm>
        <a:graphic>
          <a:graphicData uri="http://schemas.openxmlformats.org/drawingml/2006/table">
            <a:tbl>
              <a:tblPr/>
              <a:tblGrid>
                <a:gridCol w="2413000"/>
                <a:gridCol w="1092200"/>
                <a:gridCol w="1092200"/>
                <a:gridCol w="1092200"/>
                <a:gridCol w="1092200"/>
                <a:gridCol w="1092200"/>
                <a:gridCol w="1549400"/>
                <a:gridCol w="154940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Способ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Прогон 1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Прогон 2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Прогон 3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Прогон 4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Прогон 5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Среднее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Мин–макс</a:t>
                      </a:r>
                      <a:endParaRPr lang="en-US" sz="100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Своя система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1С-Битрикс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1С:УТ + витрина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Сообщения + Excel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ext-179"/>
          <p:cNvSpPr txBox="1"/>
          <p:nvPr/>
        </p:nvSpPr>
        <p:spPr>
          <a:xfrm>
            <a:off x="594360" y="5715000"/>
            <a:ext cx="1097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Дата замера, редакции и версии аналогов: [заполнить]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94360" y="474980"/>
            <a:ext cx="60325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Д4</a:t>
            </a:r>
            <a:endParaRPr lang="en-US" sz="2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435100" y="419100"/>
            <a:ext cx="838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chemeClr val="accent2"/>
                </a:solidFill>
              </a:rPr>
              <a:t>ДОПОЛНИТЕЛЬНЫЙ СЛАЙД · РЕЗЕРВ</a:t>
            </a:r>
            <a:endParaRPr lang="en-US" sz="95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1435100" y="647700"/>
            <a:ext cx="863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Как устроен резерв</a:t>
            </a:r>
            <a:endParaRPr lang="en-US" sz="27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94360" y="13462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Жизненный цикл заказа (ВКР, рис. 1.9) и фрагмент модели данных (отчёт, разд. 2.4)</a:t>
            </a:r>
            <a:endParaRPr lang="en-US" sz="13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11049000" y="6388100"/>
            <a:ext cx="60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Д4</a:t>
            </a:r>
            <a:endParaRPr lang="en-US" sz="900" dirty="0"/>
          </a:p>
        </p:txBody>
      </p:sp>
      <p:sp>
        <p:nvSpPr>
          <p:cNvPr id="7" name="text-180"/>
          <p:cNvSpPr txBox="1"/>
          <p:nvPr/>
        </p:nvSpPr>
        <p:spPr>
          <a:xfrm>
            <a:off x="594360" y="1778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ЖИЗНЕННЫЙ ЦИКЛ ЗАКАЗА</a:t>
            </a:r>
            <a:endParaRPr lang="en-US" sz="900" dirty="0"/>
          </a:p>
        </p:txBody>
      </p:sp>
      <p:sp>
        <p:nvSpPr>
          <p:cNvPr id="8" name="state-181"/>
          <p:cNvSpPr/>
          <p:nvPr/>
        </p:nvSpPr>
        <p:spPr>
          <a:xfrm>
            <a:off x="594360" y="2032000"/>
            <a:ext cx="787400" cy="330200"/>
          </a:xfrm>
          <a:prstGeom prst="roundRect">
            <a:avLst>
              <a:gd name="adj" fmla="val 49846"/>
            </a:avLst>
          </a:prstGeom>
          <a:solidFill>
            <a:schemeClr val="bg2"/>
          </a:solidFill>
          <a:ln/>
        </p:spPr>
      </p:sp>
      <p:sp>
        <p:nvSpPr>
          <p:cNvPr id="9" name="text-182"/>
          <p:cNvSpPr txBox="1"/>
          <p:nvPr/>
        </p:nvSpPr>
        <p:spPr>
          <a:xfrm>
            <a:off x="594360" y="2032000"/>
            <a:ext cx="787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Создан</a:t>
            </a:r>
            <a:endParaRPr lang="en-US" sz="1050" dirty="0"/>
          </a:p>
        </p:txBody>
      </p:sp>
      <p:sp>
        <p:nvSpPr>
          <p:cNvPr id="10" name="text-183"/>
          <p:cNvSpPr txBox="1"/>
          <p:nvPr/>
        </p:nvSpPr>
        <p:spPr>
          <a:xfrm>
            <a:off x="1381760" y="20320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→</a:t>
            </a:r>
            <a:endParaRPr lang="en-US" sz="1100" dirty="0"/>
          </a:p>
        </p:txBody>
      </p:sp>
      <p:sp>
        <p:nvSpPr>
          <p:cNvPr id="11" name="state-184"/>
          <p:cNvSpPr/>
          <p:nvPr/>
        </p:nvSpPr>
        <p:spPr>
          <a:xfrm>
            <a:off x="1661160" y="2032000"/>
            <a:ext cx="1397000" cy="330200"/>
          </a:xfrm>
          <a:prstGeom prst="roundRect">
            <a:avLst>
              <a:gd name="adj" fmla="val 49846"/>
            </a:avLst>
          </a:prstGeom>
          <a:solidFill>
            <a:schemeClr val="bg2"/>
          </a:solidFill>
          <a:ln/>
        </p:spPr>
      </p:sp>
      <p:sp>
        <p:nvSpPr>
          <p:cNvPr id="12" name="text-185"/>
          <p:cNvSpPr txBox="1"/>
          <p:nvPr/>
        </p:nvSpPr>
        <p:spPr>
          <a:xfrm>
            <a:off x="1661160" y="2032000"/>
            <a:ext cx="139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Ожидает оплату</a:t>
            </a:r>
            <a:endParaRPr lang="en-US" sz="1050" dirty="0"/>
          </a:p>
        </p:txBody>
      </p:sp>
      <p:sp>
        <p:nvSpPr>
          <p:cNvPr id="13" name="text-186"/>
          <p:cNvSpPr txBox="1"/>
          <p:nvPr/>
        </p:nvSpPr>
        <p:spPr>
          <a:xfrm>
            <a:off x="3058160" y="20320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tate-187"/>
          <p:cNvSpPr/>
          <p:nvPr/>
        </p:nvSpPr>
        <p:spPr>
          <a:xfrm>
            <a:off x="3337560" y="2032000"/>
            <a:ext cx="863600" cy="330200"/>
          </a:xfrm>
          <a:prstGeom prst="roundRect">
            <a:avLst>
              <a:gd name="adj" fmla="val 49846"/>
            </a:avLst>
          </a:prstGeom>
          <a:solidFill>
            <a:schemeClr val="bg2"/>
          </a:solidFill>
          <a:ln/>
        </p:spPr>
      </p:sp>
      <p:sp>
        <p:nvSpPr>
          <p:cNvPr id="15" name="text-188"/>
          <p:cNvSpPr txBox="1"/>
          <p:nvPr/>
        </p:nvSpPr>
        <p:spPr>
          <a:xfrm>
            <a:off x="3337560" y="2032000"/>
            <a:ext cx="86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Оплачен</a:t>
            </a:r>
            <a:endParaRPr lang="en-US" sz="1050" dirty="0"/>
          </a:p>
        </p:txBody>
      </p:sp>
      <p:sp>
        <p:nvSpPr>
          <p:cNvPr id="16" name="text-189"/>
          <p:cNvSpPr txBox="1"/>
          <p:nvPr/>
        </p:nvSpPr>
        <p:spPr>
          <a:xfrm>
            <a:off x="4201160" y="20320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state-190"/>
          <p:cNvSpPr/>
          <p:nvPr/>
        </p:nvSpPr>
        <p:spPr>
          <a:xfrm>
            <a:off x="4480560" y="2032000"/>
            <a:ext cx="939800" cy="330200"/>
          </a:xfrm>
          <a:prstGeom prst="roundRect">
            <a:avLst>
              <a:gd name="adj" fmla="val 49846"/>
            </a:avLst>
          </a:prstGeom>
          <a:solidFill>
            <a:schemeClr val="bg2"/>
          </a:solidFill>
          <a:ln/>
        </p:spPr>
      </p:sp>
      <p:sp>
        <p:nvSpPr>
          <p:cNvPr id="18" name="text-191"/>
          <p:cNvSpPr txBox="1"/>
          <p:nvPr/>
        </p:nvSpPr>
        <p:spPr>
          <a:xfrm>
            <a:off x="4480560" y="2032000"/>
            <a:ext cx="93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В сборке</a:t>
            </a:r>
            <a:endParaRPr lang="en-US" sz="1050" dirty="0"/>
          </a:p>
        </p:txBody>
      </p:sp>
      <p:sp>
        <p:nvSpPr>
          <p:cNvPr id="19" name="text-192"/>
          <p:cNvSpPr txBox="1"/>
          <p:nvPr/>
        </p:nvSpPr>
        <p:spPr>
          <a:xfrm>
            <a:off x="5420360" y="20320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tate-193"/>
          <p:cNvSpPr/>
          <p:nvPr/>
        </p:nvSpPr>
        <p:spPr>
          <a:xfrm>
            <a:off x="5699760" y="2032000"/>
            <a:ext cx="1701800" cy="330200"/>
          </a:xfrm>
          <a:prstGeom prst="roundRect">
            <a:avLst>
              <a:gd name="adj" fmla="val 49846"/>
            </a:avLst>
          </a:prstGeom>
          <a:solidFill>
            <a:schemeClr val="bg2"/>
          </a:solidFill>
          <a:ln/>
        </p:spPr>
      </p:sp>
      <p:sp>
        <p:nvSpPr>
          <p:cNvPr id="21" name="text-194"/>
          <p:cNvSpPr txBox="1"/>
          <p:nvPr/>
        </p:nvSpPr>
        <p:spPr>
          <a:xfrm>
            <a:off x="5699760" y="2032000"/>
            <a:ext cx="170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Передан в доставку</a:t>
            </a:r>
            <a:endParaRPr lang="en-US" sz="1050" dirty="0"/>
          </a:p>
        </p:txBody>
      </p:sp>
      <p:sp>
        <p:nvSpPr>
          <p:cNvPr id="22" name="text-195"/>
          <p:cNvSpPr txBox="1"/>
          <p:nvPr/>
        </p:nvSpPr>
        <p:spPr>
          <a:xfrm>
            <a:off x="7401560" y="20320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state-196"/>
          <p:cNvSpPr/>
          <p:nvPr/>
        </p:nvSpPr>
        <p:spPr>
          <a:xfrm>
            <a:off x="7680960" y="2032000"/>
            <a:ext cx="1016000" cy="330200"/>
          </a:xfrm>
          <a:prstGeom prst="roundRect">
            <a:avLst>
              <a:gd name="adj" fmla="val 49846"/>
            </a:avLst>
          </a:prstGeom>
          <a:solidFill>
            <a:schemeClr val="bg2"/>
          </a:solidFill>
          <a:ln/>
        </p:spPr>
      </p:sp>
      <p:sp>
        <p:nvSpPr>
          <p:cNvPr id="24" name="text-197"/>
          <p:cNvSpPr txBox="1"/>
          <p:nvPr/>
        </p:nvSpPr>
        <p:spPr>
          <a:xfrm>
            <a:off x="7680960" y="2032000"/>
            <a:ext cx="101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Доставлен</a:t>
            </a:r>
            <a:endParaRPr lang="en-US" sz="1050" dirty="0"/>
          </a:p>
        </p:txBody>
      </p:sp>
      <p:sp>
        <p:nvSpPr>
          <p:cNvPr id="25" name="text-198"/>
          <p:cNvSpPr txBox="1"/>
          <p:nvPr/>
        </p:nvSpPr>
        <p:spPr>
          <a:xfrm>
            <a:off x="8696960" y="20320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→</a:t>
            </a:r>
            <a:endParaRPr lang="en-US" sz="1100" dirty="0"/>
          </a:p>
        </p:txBody>
      </p:sp>
      <p:sp>
        <p:nvSpPr>
          <p:cNvPr id="26" name="state-199"/>
          <p:cNvSpPr/>
          <p:nvPr/>
        </p:nvSpPr>
        <p:spPr>
          <a:xfrm>
            <a:off x="8976360" y="2032000"/>
            <a:ext cx="939800" cy="330200"/>
          </a:xfrm>
          <a:prstGeom prst="roundRect">
            <a:avLst>
              <a:gd name="adj" fmla="val 49846"/>
            </a:avLst>
          </a:prstGeom>
          <a:solidFill>
            <a:schemeClr val="bg2"/>
          </a:solidFill>
          <a:ln/>
        </p:spPr>
      </p:sp>
      <p:sp>
        <p:nvSpPr>
          <p:cNvPr id="27" name="text-200"/>
          <p:cNvSpPr txBox="1"/>
          <p:nvPr/>
        </p:nvSpPr>
        <p:spPr>
          <a:xfrm>
            <a:off x="8976360" y="2032000"/>
            <a:ext cx="93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Завершён</a:t>
            </a:r>
            <a:endParaRPr lang="en-US" sz="1050" dirty="0"/>
          </a:p>
        </p:txBody>
      </p:sp>
      <p:sp>
        <p:nvSpPr>
          <p:cNvPr id="28" name="text-201"/>
          <p:cNvSpPr txBox="1"/>
          <p:nvPr/>
        </p:nvSpPr>
        <p:spPr>
          <a:xfrm>
            <a:off x="594360" y="2463800"/>
            <a:ext cx="1097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Альтернативные ветви: отмена клиентом до сборки, отказ оплаты, возврат после доставки</a:t>
            </a:r>
            <a:endParaRPr lang="en-US" sz="1000" dirty="0"/>
          </a:p>
        </p:txBody>
      </p:sp>
      <p:sp>
        <p:nvSpPr>
          <p:cNvPr id="29" name="text-202"/>
          <p:cNvSpPr txBox="1"/>
          <p:nvPr/>
        </p:nvSpPr>
        <p:spPr>
          <a:xfrm>
            <a:off x="594360" y="28194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ФРАГМЕНТ МОДЕЛИ ДАННЫХ</a:t>
            </a:r>
            <a:endParaRPr lang="en-US" sz="900" dirty="0"/>
          </a:p>
        </p:txBody>
      </p:sp>
      <p:sp>
        <p:nvSpPr>
          <p:cNvPr id="30" name="ent-head-203"/>
          <p:cNvSpPr/>
          <p:nvPr/>
        </p:nvSpPr>
        <p:spPr>
          <a:xfrm>
            <a:off x="594360" y="3073400"/>
            <a:ext cx="2617470" cy="304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text-204"/>
          <p:cNvSpPr txBox="1"/>
          <p:nvPr/>
        </p:nvSpPr>
        <p:spPr>
          <a:xfrm>
            <a:off x="721360" y="3073400"/>
            <a:ext cx="2363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products</a:t>
            </a:r>
            <a:endParaRPr lang="en-US" sz="1100" dirty="0"/>
          </a:p>
        </p:txBody>
      </p:sp>
      <p:sp>
        <p:nvSpPr>
          <p:cNvPr id="32" name="ent-body-205"/>
          <p:cNvSpPr/>
          <p:nvPr/>
        </p:nvSpPr>
        <p:spPr>
          <a:xfrm>
            <a:off x="594360" y="3378200"/>
            <a:ext cx="2617470" cy="1676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3" name="text-206"/>
          <p:cNvSpPr txBox="1"/>
          <p:nvPr/>
        </p:nvSpPr>
        <p:spPr>
          <a:xfrm>
            <a:off x="721360" y="3454400"/>
            <a:ext cx="236347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id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name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tea_type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origin_country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price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stock_quantity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category_id</a:t>
            </a:r>
            <a:endParaRPr lang="en-US" sz="1050" dirty="0"/>
          </a:p>
        </p:txBody>
      </p:sp>
      <p:sp>
        <p:nvSpPr>
          <p:cNvPr id="34" name="ent-head-207"/>
          <p:cNvSpPr/>
          <p:nvPr/>
        </p:nvSpPr>
        <p:spPr>
          <a:xfrm>
            <a:off x="3379470" y="3073400"/>
            <a:ext cx="2617470" cy="304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text-208"/>
          <p:cNvSpPr txBox="1"/>
          <p:nvPr/>
        </p:nvSpPr>
        <p:spPr>
          <a:xfrm>
            <a:off x="3506470" y="3073400"/>
            <a:ext cx="2363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orders</a:t>
            </a:r>
            <a:endParaRPr lang="en-US" sz="1100" dirty="0"/>
          </a:p>
        </p:txBody>
      </p:sp>
      <p:sp>
        <p:nvSpPr>
          <p:cNvPr id="36" name="ent-body-209"/>
          <p:cNvSpPr/>
          <p:nvPr/>
        </p:nvSpPr>
        <p:spPr>
          <a:xfrm>
            <a:off x="3379470" y="3378200"/>
            <a:ext cx="2617470" cy="1676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text-210"/>
          <p:cNvSpPr txBox="1"/>
          <p:nvPr/>
        </p:nvSpPr>
        <p:spPr>
          <a:xfrm>
            <a:off x="3506470" y="3454400"/>
            <a:ext cx="236347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id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client_id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status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total_sum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created_at</a:t>
            </a:r>
            <a:endParaRPr lang="en-US" sz="1050" dirty="0"/>
          </a:p>
        </p:txBody>
      </p:sp>
      <p:sp>
        <p:nvSpPr>
          <p:cNvPr id="38" name="ent-head-211"/>
          <p:cNvSpPr/>
          <p:nvPr/>
        </p:nvSpPr>
        <p:spPr>
          <a:xfrm>
            <a:off x="6164580" y="3073400"/>
            <a:ext cx="2617470" cy="304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text-212"/>
          <p:cNvSpPr txBox="1"/>
          <p:nvPr/>
        </p:nvSpPr>
        <p:spPr>
          <a:xfrm>
            <a:off x="6291580" y="3073400"/>
            <a:ext cx="2363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order_items</a:t>
            </a:r>
            <a:endParaRPr lang="en-US" sz="1100" dirty="0"/>
          </a:p>
        </p:txBody>
      </p:sp>
      <p:sp>
        <p:nvSpPr>
          <p:cNvPr id="40" name="ent-body-213"/>
          <p:cNvSpPr/>
          <p:nvPr/>
        </p:nvSpPr>
        <p:spPr>
          <a:xfrm>
            <a:off x="6164580" y="3378200"/>
            <a:ext cx="2617470" cy="1676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1" name="text-214"/>
          <p:cNvSpPr txBox="1"/>
          <p:nvPr/>
        </p:nvSpPr>
        <p:spPr>
          <a:xfrm>
            <a:off x="6291580" y="3454400"/>
            <a:ext cx="236347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id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order_id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product_id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quantity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price_at_order</a:t>
            </a:r>
            <a:endParaRPr lang="en-US" sz="1050" dirty="0"/>
          </a:p>
        </p:txBody>
      </p:sp>
      <p:sp>
        <p:nvSpPr>
          <p:cNvPr id="42" name="ent-head-215"/>
          <p:cNvSpPr/>
          <p:nvPr/>
        </p:nvSpPr>
        <p:spPr>
          <a:xfrm>
            <a:off x="8949690" y="3073400"/>
            <a:ext cx="2617470" cy="30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43" name="text-216"/>
          <p:cNvSpPr txBox="1"/>
          <p:nvPr/>
        </p:nvSpPr>
        <p:spPr>
          <a:xfrm>
            <a:off x="9076690" y="3073400"/>
            <a:ext cx="2363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batches — добавить</a:t>
            </a:r>
            <a:endParaRPr lang="en-US" sz="1100" dirty="0"/>
          </a:p>
        </p:txBody>
      </p:sp>
      <p:sp>
        <p:nvSpPr>
          <p:cNvPr id="44" name="ent-body-217"/>
          <p:cNvSpPr/>
          <p:nvPr/>
        </p:nvSpPr>
        <p:spPr>
          <a:xfrm>
            <a:off x="8949690" y="3378200"/>
            <a:ext cx="2617470" cy="1676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45" name="text-218"/>
          <p:cNvSpPr txBox="1"/>
          <p:nvPr/>
        </p:nvSpPr>
        <p:spPr>
          <a:xfrm>
            <a:off x="9076690" y="3454400"/>
            <a:ext cx="236347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accent2"/>
                </a:solidFill>
              </a:rPr>
              <a:t>id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accent2"/>
                </a:solidFill>
              </a:rPr>
              <a:t>product_id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accent2"/>
                </a:solidFill>
              </a:rPr>
              <a:t>harvest_year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accent2"/>
                </a:solidFill>
              </a:rPr>
              <a:t>region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accent2"/>
                </a:solidFill>
              </a:rPr>
              <a:t>supplier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chemeClr val="accent2"/>
                </a:solidFill>
              </a:rPr>
              <a:t>quantity</a:t>
            </a:r>
            <a:endParaRPr lang="en-US" sz="1050" dirty="0"/>
          </a:p>
        </p:txBody>
      </p:sp>
      <p:sp>
        <p:nvSpPr>
          <p:cNvPr id="46" name="card-219"/>
          <p:cNvSpPr/>
          <p:nvPr/>
        </p:nvSpPr>
        <p:spPr>
          <a:xfrm>
            <a:off x="594360" y="5232400"/>
            <a:ext cx="10972800" cy="787400"/>
          </a:xfrm>
          <a:prstGeom prst="roundRect">
            <a:avLst>
              <a:gd name="adj" fmla="val 6968"/>
            </a:avLst>
          </a:prstGeom>
          <a:solidFill>
            <a:schemeClr val="accent1"/>
          </a:solidFill>
          <a:ln/>
        </p:spPr>
      </p:sp>
      <p:sp>
        <p:nvSpPr>
          <p:cNvPr id="47" name="text-220"/>
          <p:cNvSpPr txBox="1"/>
          <p:nvPr/>
        </p:nvSpPr>
        <p:spPr>
          <a:xfrm>
            <a:off x="787400" y="5359400"/>
            <a:ext cx="1059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Резерв по требованию F-09: при оформлении заказа stock_quantity уменьшается в той же транзакции, что и запись заказа; при отмене — возвращается. Реализацию подтвердить по коду прототипа.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R Navy">
  <a:themeElements>
    <a:clrScheme name="VKR Navy">
      <a:dk1>
        <a:srgbClr val="171520"/>
      </a:dk1>
      <a:lt1>
        <a:srgbClr val="FFFFFF"/>
      </a:lt1>
      <a:dk2>
        <a:srgbClr val="2A253E"/>
      </a:dk2>
      <a:lt2>
        <a:srgbClr val="F3F3F7"/>
      </a:lt2>
      <a:accent1>
        <a:srgbClr val="2A253E"/>
      </a:accent1>
      <a:accent2>
        <a:srgbClr val="5C6175"/>
      </a:accent2>
      <a:accent3>
        <a:srgbClr val="8B91A6"/>
      </a:accent3>
      <a:accent4>
        <a:srgbClr val="DDEFE3"/>
      </a:accent4>
      <a:accent5>
        <a:srgbClr val="FBEFD2"/>
      </a:accent5>
      <a:accent6>
        <a:srgbClr val="F6DCDC"/>
      </a:accent6>
      <a:hlink>
        <a:srgbClr val="2A253E"/>
      </a:hlink>
      <a:folHlink>
        <a:srgbClr val="5C6175"/>
      </a:folHlink>
    </a:clrScheme>
    <a:fontScheme name="VKR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Сравнение веб-системы чайного магазина с аналогами</dc:title>
  <dc:subject>PptxGenJS Presentation</dc:subject>
  <dc:creator>Фирсов В. Д.</dc:creator>
  <cp:lastModifiedBy>Фирсов В. Д.</cp:lastModifiedBy>
  <cp:revision>1</cp:revision>
  <dcterms:created xsi:type="dcterms:W3CDTF">2026-10-23T21:04:07Z</dcterms:created>
  <dcterms:modified xsi:type="dcterms:W3CDTF">2026-10-23T21:04:07Z</dcterms:modified>
</cp:coreProperties>
</file>